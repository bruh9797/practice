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9144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A7477CAA-39EC-4A3C-B30F-483B0C313518}" type="datetime1">
              <a:rPr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873C7CE9-2C36-4AB4-80D4-5D9BEF371F62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F461DC81-4FBF-44DA-81CE-71161BF5EB69}" type="datetime1">
              <a:rPr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A11DFABB-070A-4FA0-ABAA-304D2DD234B5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0BD74D36-956F-4FF2-814D-E29C9C72C39E}" type="datetime1">
              <a:rPr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A27A3921-22F9-43BB-B1D5-D9E8256F07EA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A58A097C-28B0-4DD3-8E7D-44817E9F253E}" type="datetime1">
              <a:rPr/>
            </a:fld>
            <a:endParaRPr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7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9780E0D0-A7E8-454F-BA9A-22476B227A89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E7C7EB1C-1500-43B4-937A-B81AB320D89A}" type="datetime1">
              <a:rPr/>
            </a:fld>
            <a:endParaRPr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9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B5D3CA77-2B79-4D28-A359-7906A03D828A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E089461A-FB79-4DD0-ABA4-06D82E1288FC}" type="datetime1">
              <a:rPr/>
            </a:fld>
            <a:endParaRPr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5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FE0CFF0D-5C0D-47A5-AA7D-0C17C09FCD3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/>
      <p:sp>
        <p:nvSpPr>
          <p:cNvPr id="2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E3903FEC-6E62-4C5A-ACE5-0378AB797301}" type="datetime1">
              <a:rPr/>
            </a:fld>
            <a:endParaRPr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4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D0B1B57B-5B43-4922-9002-E42FC20CE5A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9251B0CA-8942-4980-BD77-7CC6A667AB00}" type="datetime1">
              <a:rPr/>
            </a:fld>
            <a:endParaRPr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7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83F2A46D-B3E9-41EA-A240-3EE17F0AC0CA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buNone/>
            </a:pPr>
          </a:p>
        </p:txBody>
      </p:sp>
      <p:sp>
        <p:nvSpPr>
          <p:cNvPr id="4" name="Текст 3"/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6C8F958A-2D6D-4875-986D-AF5FBA19ABD1}" type="datetime1">
              <a:rPr/>
            </a:fld>
            <a:endParaRPr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7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A00C1DD5-ACC8-4889-BD5C-089010C86BD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3C3E9EB4-B04E-422B-9B3D-EF7D97544E0B}" type="datetime1">
              <a:rPr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B047F75-ED67-43E6-AFA6-C14148BB324C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/>
      <p:sp>
        <p:nvSpPr>
          <p:cNvPr id="2" name="Вертикальный заголовок 1"/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BA9DA5F9-126B-4EA9-A15C-CF297A780BE6}" type="datetime1">
              <a:rPr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C63A14A1-7B2A-4AD6-8E7A-48AF56E6C7BE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E7B210D8-868B-45DC-B38C-6081352DD587}" type="datetime1">
              <a:rPr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A6551880-92B5-4C4B-AFA4-EC2D7BE30B40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E83921B3-380D-4D19-B070-A5E047752D17}" type="datetime1">
              <a:rPr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9BE4AA24-EE45-4450-B33F-4D9BFC364EBE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001EC8AA-89A6-418B-A073-D8CC16F9B9E9}" type="datetime1">
              <a:rPr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92A2FD6C-ADD2-4CA4-A4FF-6C5D3D8399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5A034717-ECD2-4CFF-B8C0-459B86DB5831}" type="datetime1">
              <a:rPr/>
            </a:fld>
            <a:endParaRPr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7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CCE9E273-C95E-4783-BE68-A3647C2C8E98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0569B68E-641E-461A-8692-0FE47A0C67BC}" type="datetime1">
              <a:rPr/>
            </a:fld>
            <a:endParaRPr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9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D7F649C3-CC5C-422E-9F9E-04276A8A61D0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E8FD7DC8-F0D6-4C1A-924A-631457F566B4}" type="datetime1">
              <a:rPr/>
            </a:fld>
            <a:endParaRPr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5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63A31271-66D5-416C-B582-B08564A7EC3C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/>
      <p:sp>
        <p:nvSpPr>
          <p:cNvPr id="2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15417BFB-71D3-4307-B157-AC411F7B0FDD}" type="datetime1">
              <a:rPr/>
            </a:fld>
            <a:endParaRPr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4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ECD39597-5E58-4977-B37F-D2A278C3B6A0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1C29ED1A-0E8A-4F73-9AF0-5E29CCEDAB7E}" type="datetime1">
              <a:rPr/>
            </a:fld>
            <a:endParaRPr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7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4A5223FA-7999-4A08-BFA2-1568F7C45CA5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buNone/>
            </a:pPr>
          </a:p>
        </p:txBody>
      </p:sp>
      <p:sp>
        <p:nvSpPr>
          <p:cNvPr id="4" name="Текст 3"/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CB54EC7D-192C-4B0D-885F-0CB21C613137}" type="datetime1">
              <a:rPr/>
            </a:fld>
            <a:endParaRPr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7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D931F73F-5100-4628-8B70-8C38A67B6C0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099090A8-DB27-47FB-87F3-C42F3BCDF677}" type="datetime1">
              <a:rPr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1131108C-0D76-4960-805A-404849839B50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/>
      <p:sp>
        <p:nvSpPr>
          <p:cNvPr id="2" name="Вертикальный заголовок 1"/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9DD47A0E-6F08-4644-899B-2ECC727C3B6B}" type="datetime1">
              <a:rPr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6CF60478-AE21-482E-B767-D5EA2B2B35DD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/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6C65F0D8-1D7A-4AE6-A007-3DC97855F165}" type="datetime1">
              <a:rPr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 algn="r"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fld id="{2A43C248-CEC2-4AE8-A565-3EEA63B3E66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  <a:lvl2pPr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2pPr>
      <a:lvl3pPr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3pPr>
      <a:lvl4pPr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4pPr>
      <a:lvl5pPr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5pPr>
      <a:lvl6pPr marL="4572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6pPr>
      <a:lvl7pPr marL="9144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7pPr>
      <a:lvl8pPr marL="13716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8pPr>
      <a:lvl9pPr marL="18288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9pPr>
    </p:titleStyle>
    <p:bodyStyle>
      <a:lvl1pPr marL="342900" indent="-342900" algn="l">
        <a:spcBef>
          <a:spcPct val="20000"/>
        </a:spcBef>
        <a:spcAft>
          <a:spcPct val="0"/>
        </a:spcAft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ct val="20000"/>
        </a:spcBef>
        <a:spcAft>
          <a:spcPct val="0"/>
        </a:spcAft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ct val="20000"/>
        </a:spcBef>
        <a:spcAft>
          <a:spcPct val="0"/>
        </a:spcAft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ct val="20000"/>
        </a:spcBef>
        <a:spcAft>
          <a:spcPct val="0"/>
        </a:spcAft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ct val="20000"/>
        </a:spcBef>
        <a:spcAft>
          <a:spcPct val="0"/>
        </a:spcAft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/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6C109E9F-D2C8-4FFA-BD39-01AD945D8983}" type="datetime1">
              <a:rPr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 algn="r"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>
              <a:buNone/>
            </a:pPr>
            <a:fld id="{C643C1AA-6C92-4B23-BCF3-3A2D9E4734F9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  <a:lvl2pPr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2pPr>
      <a:lvl3pPr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3pPr>
      <a:lvl4pPr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4pPr>
      <a:lvl5pPr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5pPr>
      <a:lvl6pPr marL="4572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6pPr>
      <a:lvl7pPr marL="9144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7pPr>
      <a:lvl8pPr marL="13716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8pPr>
      <a:lvl9pPr marL="18288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9pPr>
    </p:titleStyle>
    <p:bodyStyle>
      <a:lvl1pPr marL="342900" indent="-342900" algn="l">
        <a:spcBef>
          <a:spcPct val="20000"/>
        </a:spcBef>
        <a:spcAft>
          <a:spcPct val="0"/>
        </a:spcAft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ct val="20000"/>
        </a:spcBef>
        <a:spcAft>
          <a:spcPct val="0"/>
        </a:spcAft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ct val="20000"/>
        </a:spcBef>
        <a:spcAft>
          <a:spcPct val="0"/>
        </a:spcAft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ct val="20000"/>
        </a:spcBef>
        <a:spcAft>
          <a:spcPct val="0"/>
        </a:spcAft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ct val="20000"/>
        </a:spcBef>
        <a:spcAft>
          <a:spcPct val="0"/>
        </a:spcAft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6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111" name="Picture 6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sp>
        <p:nvSpPr>
          <p:cNvPr id="4100" name="Rectangle 3"/>
          <p:cNvSpPr>
            <a:spLocks noGrp="1"/>
          </p:cNvSpPr>
          <p:nvPr/>
        </p:nvSpPr>
        <p:spPr>
          <a:xfrm>
            <a:off x="0" y="6597650"/>
            <a:ext cx="9144000" cy="2143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/>
              <a:buChar char="•"/>
              <a:defRPr sz="32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marL="742950" indent="-285750">
              <a:spcBef>
                <a:spcPct val="20000"/>
              </a:spcBef>
              <a:buFont typeface="Arial" panose="020B0604020202020204"/>
              <a:buChar char="–"/>
              <a:defRPr sz="28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marL="1143000" indent="-228600">
              <a:spcBef>
                <a:spcPct val="20000"/>
              </a:spcBef>
              <a:buFont typeface="Arial" panose="020B0604020202020204"/>
              <a:buChar char="•"/>
              <a:defRPr sz="24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marL="1600200" indent="-228600">
              <a:spcBef>
                <a:spcPct val="20000"/>
              </a:spcBef>
              <a:buFont typeface="Arial" panose="020B0604020202020204"/>
              <a:buChar char="–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marL="2057400" indent="-228600">
              <a:spcBef>
                <a:spcPct val="20000"/>
              </a:spcBef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>
            <a:pPr marL="0" marR="0" indent="0" algn="ctr" defTabSz="91440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/>
              <a:buNone/>
            </a:pPr>
            <a:r>
              <a:rPr sz="1400" b="1" i="0" u="none" cap="none">
                <a:ln>
                  <a:noFill/>
                </a:ln>
                <a:solidFill>
                  <a:prstClr val="black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Санкт-Петербург 2026</a:t>
            </a:r>
            <a:endParaRPr sz="1400" b="1" i="0" u="none" cap="none">
              <a:ln>
                <a:noFill/>
              </a:ln>
              <a:solidFill>
                <a:prstClr val="black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Rectangle 4"/>
          <p:cNvSpPr>
            <a:spLocks noGrp="1"/>
          </p:cNvSpPr>
          <p:nvPr/>
        </p:nvSpPr>
        <p:spPr>
          <a:xfrm>
            <a:off x="250825" y="0"/>
            <a:ext cx="8497888" cy="8366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marR="0" indent="-342900" algn="ctr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Минобрнауки</a:t>
            </a: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России</a:t>
            </a:r>
            <a:endParaRPr sz="1400" b="0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342900" marR="0" indent="-342900" algn="ctr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/>
              <a:buNone/>
            </a:pPr>
            <a:r>
              <a:rPr sz="12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федеральное государственное бюджетное образовательное учреждение</a:t>
            </a:r>
            <a:r>
              <a:rPr sz="12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2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высшего</a:t>
            </a:r>
            <a:r>
              <a:rPr sz="12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2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образования                                                    </a:t>
            </a: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Санкт-Петербургский государственный технологический институт (технический университет)</a:t>
            </a:r>
            <a:endParaRPr sz="1400" b="0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Rectangle 8"/>
          <p:cNvSpPr>
            <a:spLocks noGrp="1"/>
          </p:cNvSpPr>
          <p:nvPr/>
        </p:nvSpPr>
        <p:spPr>
          <a:xfrm>
            <a:off x="0" y="2276475"/>
            <a:ext cx="9144000" cy="400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20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УЧЕБНАЯ ПРАКТИКА</a:t>
            </a:r>
            <a:endParaRPr sz="20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Rectangle 10"/>
          <p:cNvSpPr>
            <a:spLocks noGrp="1"/>
          </p:cNvSpPr>
          <p:nvPr/>
        </p:nvSpPr>
        <p:spPr>
          <a:xfrm>
            <a:off x="827088" y="688975"/>
            <a:ext cx="7920037" cy="1600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УГСН 09.00.00 «Информатика и вычислительная техника»</a:t>
            </a:r>
            <a:endParaRPr sz="1400" b="0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Направление подготовки: 09.03.01 «Информатика и вычислительная техника»</a:t>
            </a:r>
            <a:endParaRPr sz="1400" b="0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Направленность: Системы автоматизированного проектирования</a:t>
            </a:r>
            <a:endParaRPr sz="1400" b="0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Уровень подготовки: бакалавр</a:t>
            </a:r>
            <a:endParaRPr sz="1400" b="0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Форма обучения: очная</a:t>
            </a:r>
            <a:endParaRPr sz="1400" b="0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Факультет информационных технологий и управления</a:t>
            </a:r>
            <a:endParaRPr sz="1400" b="0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Кафедра систем автоматизированного проектирования и управления</a:t>
            </a:r>
            <a:endParaRPr sz="1400" b="0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104" name="Rectangle 1222"/>
          <p:cNvSpPr>
            <a:spLocks noGrp="1"/>
          </p:cNvSpPr>
          <p:nvPr/>
        </p:nvSpPr>
        <p:spPr>
          <a:xfrm>
            <a:off x="1082675" y="2781300"/>
            <a:ext cx="184150" cy="369888"/>
          </a:xfrm>
          <a:prstGeom prst="rect">
            <a:avLst/>
          </a:prstGeom>
          <a:noFill/>
          <a:ln>
            <a:noFill/>
          </a:ln>
        </p:spPr>
        <p:txBody>
          <a:bodyPr wrap="none" anchor="b">
            <a:spAutoFit/>
          </a:bodyPr>
          <a:lstStyle>
            <a:lvl1pPr>
              <a:spcBef>
                <a:spcPct val="20000"/>
              </a:spcBef>
              <a:buFont typeface="Arial" panose="020B0604020202020204"/>
              <a:buChar char="•"/>
              <a:defRPr sz="32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marL="742950" indent="-285750">
              <a:spcBef>
                <a:spcPct val="20000"/>
              </a:spcBef>
              <a:buFont typeface="Arial" panose="020B0604020202020204"/>
              <a:buChar char="–"/>
              <a:defRPr sz="28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marL="1143000" indent="-228600">
              <a:spcBef>
                <a:spcPct val="20000"/>
              </a:spcBef>
              <a:buFont typeface="Arial" panose="020B0604020202020204"/>
              <a:buChar char="•"/>
              <a:defRPr sz="24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marL="1600200" indent="-228600">
              <a:spcBef>
                <a:spcPct val="20000"/>
              </a:spcBef>
              <a:buFont typeface="Arial" panose="020B0604020202020204"/>
              <a:buChar char="–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marL="2057400" indent="-228600">
              <a:spcBef>
                <a:spcPct val="20000"/>
              </a:spcBef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4105" name="Rectangle 1224"/>
          <p:cNvSpPr>
            <a:spLocks noGrp="1"/>
          </p:cNvSpPr>
          <p:nvPr/>
        </p:nvSpPr>
        <p:spPr>
          <a:xfrm>
            <a:off x="1082675" y="2781300"/>
            <a:ext cx="184150" cy="369888"/>
          </a:xfrm>
          <a:prstGeom prst="rect">
            <a:avLst/>
          </a:prstGeom>
          <a:noFill/>
          <a:ln>
            <a:noFill/>
          </a:ln>
        </p:spPr>
        <p:txBody>
          <a:bodyPr wrap="none" anchor="b">
            <a:spAutoFit/>
          </a:bodyPr>
          <a:lstStyle>
            <a:lvl1pPr>
              <a:spcBef>
                <a:spcPct val="20000"/>
              </a:spcBef>
              <a:buFont typeface="Arial" panose="020B0604020202020204"/>
              <a:buChar char="•"/>
              <a:defRPr sz="32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marL="742950" indent="-285750">
              <a:spcBef>
                <a:spcPct val="20000"/>
              </a:spcBef>
              <a:buFont typeface="Arial" panose="020B0604020202020204"/>
              <a:buChar char="–"/>
              <a:defRPr sz="28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marL="1143000" indent="-228600">
              <a:spcBef>
                <a:spcPct val="20000"/>
              </a:spcBef>
              <a:buFont typeface="Arial" panose="020B0604020202020204"/>
              <a:buChar char="•"/>
              <a:defRPr sz="24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marL="1600200" indent="-228600">
              <a:spcBef>
                <a:spcPct val="20000"/>
              </a:spcBef>
              <a:buFont typeface="Arial" panose="020B0604020202020204"/>
              <a:buChar char="–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marL="2057400" indent="-228600">
              <a:spcBef>
                <a:spcPct val="20000"/>
              </a:spcBef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4106" name="Rectangle 2"/>
          <p:cNvSpPr>
            <a:spLocks noGrp="1"/>
          </p:cNvSpPr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/>
              <a:buChar char="•"/>
              <a:defRPr sz="32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marL="742950" indent="-285750">
              <a:spcBef>
                <a:spcPct val="20000"/>
              </a:spcBef>
              <a:buFont typeface="Arial" panose="020B0604020202020204"/>
              <a:buChar char="–"/>
              <a:defRPr sz="28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marL="1143000" indent="-228600">
              <a:spcBef>
                <a:spcPct val="20000"/>
              </a:spcBef>
              <a:buFont typeface="Arial" panose="020B0604020202020204"/>
              <a:buChar char="•"/>
              <a:defRPr sz="24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marL="1600200" indent="-228600">
              <a:spcBef>
                <a:spcPct val="20000"/>
              </a:spcBef>
              <a:buFont typeface="Arial" panose="020B0604020202020204"/>
              <a:buChar char="–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marL="2057400" indent="-228600">
              <a:spcBef>
                <a:spcPct val="20000"/>
              </a:spcBef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4107" name="Rectangle 4"/>
          <p:cNvSpPr>
            <a:spLocks noGrp="1"/>
          </p:cNvSpPr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/>
              <a:buChar char="•"/>
              <a:defRPr sz="32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marL="742950" indent="-285750">
              <a:spcBef>
                <a:spcPct val="20000"/>
              </a:spcBef>
              <a:buFont typeface="Arial" panose="020B0604020202020204"/>
              <a:buChar char="–"/>
              <a:defRPr sz="28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marL="1143000" indent="-228600">
              <a:spcBef>
                <a:spcPct val="20000"/>
              </a:spcBef>
              <a:buFont typeface="Arial" panose="020B0604020202020204"/>
              <a:buChar char="•"/>
              <a:defRPr sz="24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marL="1600200" indent="-228600">
              <a:spcBef>
                <a:spcPct val="20000"/>
              </a:spcBef>
              <a:buFont typeface="Arial" panose="020B0604020202020204"/>
              <a:buChar char="–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marL="2057400" indent="-228600">
              <a:spcBef>
                <a:spcPct val="20000"/>
              </a:spcBef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graphicFrame>
        <p:nvGraphicFramePr>
          <p:cNvPr id="4120" name="Group 58"/>
          <p:cNvGraphicFramePr/>
          <p:nvPr/>
        </p:nvGraphicFramePr>
        <p:xfrm>
          <a:off x="-6592" y="3823886"/>
          <a:ext cx="9144000" cy="822720"/>
        </p:xfrm>
        <a:graphic>
          <a:graphicData uri="http://schemas.openxmlformats.org/drawingml/2006/table">
            <a:tbl>
              <a:tblPr/>
              <a:tblGrid>
                <a:gridCol w="2268538"/>
                <a:gridCol w="6875462"/>
              </a:tblGrid>
              <a:tr h="169166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/>
                        <a:buNone/>
                      </a:pPr>
                      <a:r>
                        <a:rPr sz="14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Обучающийся</a:t>
                      </a:r>
                      <a:endParaRPr sz="1400" b="1" i="0" u="non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T="45660" marB="45660" horzOverflow="overflow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/>
                        <a:buNone/>
                      </a:pPr>
                      <a:r>
                        <a:rPr sz="1400" b="1" i="1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Студент гр. </a:t>
                      </a:r>
                      <a:r>
                        <a:rPr lang="ru-RU" sz="1400" b="1" i="1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443 Андреев Артем Игоревич</a:t>
                      </a:r>
                      <a:endParaRPr lang="ru-RU" sz="1400" b="1" i="1" u="non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/>
                        <a:buNone/>
                      </a:pPr>
                      <a:r>
                        <a:rPr sz="1400" b="1" i="1">
                          <a:ln>
                            <a:noFill/>
                          </a:ln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Студент гр. </a:t>
                      </a:r>
                      <a:r>
                        <a:rPr lang="ru-RU" sz="1400" b="1" i="1">
                          <a:ln>
                            <a:noFill/>
                          </a:ln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443 Бабаян Тигран Витальевич</a:t>
                      </a:r>
                      <a:endParaRPr lang="ru-RU" sz="1400" b="1" i="1">
                        <a:ln>
                          <a:noFill/>
                        </a:ln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+mn-ea"/>
                      </a:endParaRPr>
                    </a:p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/>
                        <a:buNone/>
                      </a:pPr>
                      <a:r>
                        <a:rPr sz="1400" b="1" i="1">
                          <a:ln>
                            <a:noFill/>
                          </a:ln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Студент гр. </a:t>
                      </a:r>
                      <a:r>
                        <a:rPr lang="ru-RU" sz="1400" b="1" i="1">
                          <a:ln>
                            <a:noFill/>
                          </a:ln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443 Гаригин Милан Андреевич</a:t>
                      </a:r>
                      <a:endParaRPr lang="ru-RU" sz="1400" b="1" i="1">
                        <a:ln>
                          <a:noFill/>
                        </a:ln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+mn-ea"/>
                      </a:endParaRPr>
                    </a:p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/>
                        <a:buNone/>
                      </a:pPr>
                      <a:r>
                        <a:rPr sz="1400" b="1" i="1">
                          <a:ln>
                            <a:noFill/>
                          </a:ln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Студент гр. </a:t>
                      </a:r>
                      <a:r>
                        <a:rPr lang="ru-RU" sz="1400" b="1" i="1">
                          <a:ln>
                            <a:noFill/>
                          </a:ln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443 Саргсян Серёжа Арсенович</a:t>
                      </a:r>
                      <a:endParaRPr lang="ru-RU" sz="1400" b="1" i="1" u="non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T="45660" marB="45660" horzOverflow="overflow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5034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/>
                        <a:buNone/>
                      </a:pPr>
                      <a:r>
                        <a:rPr sz="14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Руководител</a:t>
                      </a:r>
                      <a:r>
                        <a:rPr lang="ru-RU" sz="14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и</a:t>
                      </a:r>
                      <a:endParaRPr lang="ru-RU" sz="1400" b="1" i="0" u="non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T="45660" marB="45660" horzOverflow="overflow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r>
                        <a:rPr lang="ru-RU" altLang="ru-RU" sz="1400" b="1" i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+mn-ea"/>
                        </a:rPr>
                        <a:t>ст. преп. Козлов Андрей </a:t>
                      </a:r>
                      <a:r>
                        <a:rPr lang="ru-RU" altLang="ru-RU" sz="1400" b="1" i="1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+mn-ea"/>
                        </a:rPr>
                        <a:t>Васильевич</a:t>
                      </a:r>
                      <a:endParaRPr kumimoji="0" lang="ru-RU" altLang="ru-RU" sz="1400" b="1" i="1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r>
                        <a:rPr lang="ru-RU" altLang="ru-RU" sz="1400" b="1" i="1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+mn-ea"/>
                        </a:rPr>
                        <a:t>ст. преп.</a:t>
                      </a:r>
                      <a:r>
                        <a:rPr lang="ru-RU" altLang="ru-RU" sz="1400" b="1" i="1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+mn-ea"/>
                        </a:rPr>
                        <a:t> Иванов Александр Александрович</a:t>
                      </a:r>
                      <a:endParaRPr lang="ru-RU" altLang="ru-RU" sz="1400" b="1" i="1" u="none" cap="none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T="45660" marB="45660" horzOverflow="overflow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4121" name="Picture 108"/>
          <p:cNvPicPr>
            <a:picLocks noChangeAspect="1"/>
          </p:cNvPicPr>
          <p:nvPr/>
        </p:nvPicPr>
        <p:blipFill>
          <a:blip r:embed="rId2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6" name="Google Shape;89;p13"/>
          <p:cNvSpPr>
            <a:spLocks noGrp="1"/>
          </p:cNvSpPr>
          <p:nvPr/>
        </p:nvSpPr>
        <p:spPr>
          <a:xfrm>
            <a:off x="-72231" y="2852737"/>
            <a:ext cx="9144000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 fontScale="94902" lnSpcReduction="10000"/>
          </a:bodyPr>
          <a:lstStyle/>
          <a:p>
            <a:pPr marL="0" marR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«Разработка информационно-поисковой системы ThermoSelect для выбора теплообменных аппаратов»</a:t>
            </a:r>
            <a:endParaRPr sz="20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Rectangle 2"/>
          <p:cNvSpPr>
            <a:spLocks noGrp="1"/>
          </p:cNvSpPr>
          <p:nvPr/>
        </p:nvSpPr>
        <p:spPr>
          <a:xfrm>
            <a:off x="0" y="0"/>
            <a:ext cx="9144000" cy="34068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Актуальность работы</a:t>
            </a:r>
            <a:endParaRPr sz="2600" b="1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149" name="Rectangle 2"/>
          <p:cNvSpPr>
            <a:spLocks noGrp="1"/>
          </p:cNvSpPr>
          <p:nvPr/>
        </p:nvSpPr>
        <p:spPr>
          <a:xfrm>
            <a:off x="34925" y="824123"/>
            <a:ext cx="9001571" cy="554016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/>
              <a:buChar char="•"/>
              <a:defRPr sz="32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marL="742950" indent="-285750">
              <a:spcBef>
                <a:spcPct val="20000"/>
              </a:spcBef>
              <a:buFont typeface="Arial" panose="020B0604020202020204"/>
              <a:buChar char="–"/>
              <a:defRPr sz="28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marL="1143000" indent="-228600">
              <a:spcBef>
                <a:spcPct val="20000"/>
              </a:spcBef>
              <a:buFont typeface="Arial" panose="020B0604020202020204"/>
              <a:buChar char="•"/>
              <a:defRPr sz="24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marL="1600200" indent="-228600">
              <a:spcBef>
                <a:spcPct val="20000"/>
              </a:spcBef>
              <a:buFont typeface="Arial" panose="020B0604020202020204"/>
              <a:buChar char="–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marL="2057400" indent="-228600">
              <a:spcBef>
                <a:spcPct val="20000"/>
              </a:spcBef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>
            <a:pPr algn="l">
              <a:spcAft>
                <a:spcPts val="800"/>
              </a:spcAft>
              <a:buClrTx/>
              <a:buSzTx/>
              <a:buNone/>
            </a:pPr>
            <a:r>
              <a:rPr sz="1900">
                <a:latin typeface="Verdana" panose="020B0604030504040204"/>
                <a:ea typeface="Verdana" panose="020B0604030504040204"/>
                <a:cs typeface="Verdana" panose="020B0604030504040204"/>
              </a:rPr>
              <a:t>• </a:t>
            </a: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Теплообменники применяются в отоплении, HVAC, холодильной технике, энергетике и промышленности.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800"/>
              </a:spcAft>
              <a:buClrTx/>
              <a:buSzTx/>
              <a:buNone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800"/>
              </a:spcAft>
              <a:buClrTx/>
              <a:buSzTx/>
              <a:buNone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• Каталоги производителей используют разные наборы характеристик и уровни детализации.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800"/>
              </a:spcAft>
              <a:buClrTx/>
              <a:buSzTx/>
              <a:buNone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800"/>
              </a:spcAft>
              <a:buClrTx/>
              <a:buSzTx/>
              <a:buNone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• Ручное сопоставление моделей занимает время и повышает риск ошибки.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800"/>
              </a:spcAft>
              <a:buClrTx/>
              <a:buSzTx/>
              <a:buNone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800"/>
              </a:spcAft>
              <a:buClrTx/>
              <a:buSzTx/>
              <a:buNone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• Требуется единая система строгого поиска, сравнения и проверки источников.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155" name="Picture 6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6156" name="Picture 108"/>
          <p:cNvPicPr>
            <a:picLocks noChangeAspect="1"/>
          </p:cNvPicPr>
          <p:nvPr/>
        </p:nvPicPr>
        <p:blipFill>
          <a:blip r:embed="rId2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>
            <a:spLocks noGrp="1"/>
          </p:cNvSpPr>
          <p:nvPr/>
        </p:nvSpPr>
        <p:spPr>
          <a:xfrm>
            <a:off x="8213769" y="6321464"/>
            <a:ext cx="909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2/1</a:t>
            </a: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9</a:t>
            </a:r>
            <a:endParaRPr b="1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Rectangle 2"/>
          <p:cNvSpPr>
            <a:spLocks noGrp="1"/>
          </p:cNvSpPr>
          <p:nvPr/>
        </p:nvSpPr>
        <p:spPr>
          <a:xfrm>
            <a:off x="0" y="0"/>
            <a:ext cx="9144000" cy="42703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Цель и задачи работы</a:t>
            </a:r>
            <a:endParaRPr sz="2600" b="1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149" name="Rectangle 2"/>
          <p:cNvSpPr>
            <a:spLocks noGrp="1"/>
          </p:cNvSpPr>
          <p:nvPr/>
        </p:nvSpPr>
        <p:spPr>
          <a:xfrm>
            <a:off x="0" y="433475"/>
            <a:ext cx="9178925" cy="60547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/>
              <a:buChar char="•"/>
              <a:defRPr sz="32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marL="742950" indent="-285750">
              <a:spcBef>
                <a:spcPct val="20000"/>
              </a:spcBef>
              <a:buFont typeface="Arial" panose="020B0604020202020204"/>
              <a:buChar char="–"/>
              <a:defRPr sz="28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marL="1143000" indent="-228600">
              <a:spcBef>
                <a:spcPct val="20000"/>
              </a:spcBef>
              <a:buFont typeface="Arial" panose="020B0604020202020204"/>
              <a:buChar char="•"/>
              <a:defRPr sz="24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marL="1600200" indent="-228600">
              <a:spcBef>
                <a:spcPct val="20000"/>
              </a:spcBef>
              <a:buFont typeface="Arial" panose="020B0604020202020204"/>
              <a:buChar char="–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marL="2057400" indent="-228600">
              <a:spcBef>
                <a:spcPct val="20000"/>
              </a:spcBef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>
            <a:pPr>
              <a:buNone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Цель — разработать web-систему ThermoSelect для первичного выбора теплообменных аппаратов.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None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Задачи: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None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1) проанализировать предметную область и официальные каталоги;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None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2) спроектировать нормализованную базу данных;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None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3) реализовать авторизацию, каталог, фильтры, карточку и сравнение;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None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4) создать административные функции и Excel-выгрузку;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None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5) обеспечить безопасность, тестирование и сборку в один JAR.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156" name="Picture 6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932" y="0"/>
            <a:ext cx="601663" cy="762000"/>
          </a:xfrm>
          <a:prstGeom prst="rect">
            <a:avLst/>
          </a:prstGeom>
          <a:ln>
            <a:noFill/>
          </a:ln>
        </p:spPr>
      </p:pic>
      <p:pic>
        <p:nvPicPr>
          <p:cNvPr id="6157" name="Picture 6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6158" name="Picture 108"/>
          <p:cNvPicPr>
            <a:picLocks noChangeAspect="1"/>
          </p:cNvPicPr>
          <p:nvPr/>
        </p:nvPicPr>
        <p:blipFill>
          <a:blip r:embed="rId3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>
            <a:spLocks noGrp="1"/>
          </p:cNvSpPr>
          <p:nvPr/>
        </p:nvSpPr>
        <p:spPr>
          <a:xfrm>
            <a:off x="8213769" y="6321464"/>
            <a:ext cx="909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3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/1</a:t>
            </a: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9</a:t>
            </a:r>
            <a:endParaRPr b="1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Rectangle 2"/>
          <p:cNvSpPr>
            <a:spLocks noGrp="1"/>
          </p:cNvSpPr>
          <p:nvPr/>
        </p:nvSpPr>
        <p:spPr>
          <a:xfrm>
            <a:off x="749661" y="508121"/>
            <a:ext cx="7776442" cy="68897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Формализованное описание задачи</a:t>
            </a:r>
            <a:endParaRPr sz="2600" b="1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27" name="Picture 6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601663" cy="762000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>
            <a:spLocks noGrp="1"/>
          </p:cNvSpPr>
          <p:nvPr/>
        </p:nvSpPr>
        <p:spPr>
          <a:xfrm>
            <a:off x="4936195" y="2518254"/>
            <a:ext cx="4214155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latin typeface="Verdana" panose="020B0604030504040204"/>
                <a:ea typeface="Verdana" panose="020B0604030504040204"/>
                <a:cs typeface="Verdana" panose="020B0604030504040204"/>
              </a:rPr>
              <a:t>Выходные данные:</a:t>
            </a:r>
            <a:endParaRPr sz="1500"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r>
              <a:rPr sz="1500" i="1">
                <a:latin typeface="Verdana" panose="020B0604030504040204"/>
                <a:ea typeface="Verdana" panose="020B0604030504040204"/>
                <a:cs typeface="Verdana" panose="020B0604030504040204"/>
              </a:rPr>
              <a:t>Y = {H₁, H₂, …, Hₙ}</a:t>
            </a:r>
            <a:endParaRPr sz="1500" i="1"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r>
              <a:rPr sz="1500">
                <a:latin typeface="Verdana" panose="020B0604030504040204"/>
                <a:ea typeface="Verdana" panose="020B0604030504040204"/>
                <a:cs typeface="Verdana" panose="020B0604030504040204"/>
              </a:rPr>
              <a:t>Y — упорядоченный список опубликованных аппаратов, которые проходят все строгие ограничения.</a:t>
            </a:r>
            <a:endParaRPr sz="1500"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29" name="Picture 6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30" name="Picture 108"/>
          <p:cNvPicPr>
            <a:picLocks noChangeAspect="1"/>
          </p:cNvPicPr>
          <p:nvPr/>
        </p:nvPicPr>
        <p:blipFill>
          <a:blip r:embed="rId3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21" name="TextBox 20"/>
          <p:cNvSpPr>
            <a:spLocks noGrp="1"/>
          </p:cNvSpPr>
          <p:nvPr/>
        </p:nvSpPr>
        <p:spPr>
          <a:xfrm>
            <a:off x="8213769" y="6321464"/>
            <a:ext cx="909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4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/1</a:t>
            </a: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9</a:t>
            </a:r>
            <a:endParaRPr b="1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107504" y="5022899"/>
            <a:ext cx="8875072" cy="1869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latin typeface="Verdana" panose="020B0604030504040204"/>
                <a:ea typeface="Verdana" panose="020B0604030504040204"/>
                <a:cs typeface="Verdana" panose="020B0604030504040204"/>
              </a:rPr>
              <a:t>Неизвестное обязательное значение исключает запись. После строгой фильтрации активные критерии нормализуются и формируют устойчивый порядок результатов.</a:t>
            </a:r>
            <a:endParaRPr sz="1500"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107503" y="2518254"/>
            <a:ext cx="482869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latin typeface="Verdana" panose="020B0604030504040204"/>
                <a:ea typeface="Verdana" panose="020B0604030504040204"/>
                <a:cs typeface="Verdana" panose="020B0604030504040204"/>
              </a:rPr>
              <a:t>Входные переменные:</a:t>
            </a:r>
            <a:endParaRPr sz="1500"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r>
              <a:rPr sz="1500" i="1">
                <a:latin typeface="Verdana" panose="020B0604030504040204"/>
                <a:ea typeface="Verdana" panose="020B0604030504040204"/>
                <a:cs typeface="Verdana" panose="020B0604030504040204"/>
              </a:rPr>
              <a:t>X = {q, f, m, a, t, p, g, s}</a:t>
            </a:r>
            <a:endParaRPr sz="1500" i="1"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r>
              <a:rPr sz="1500" i="1">
                <a:latin typeface="Verdana" panose="020B0604030504040204"/>
                <a:ea typeface="Verdana" panose="020B0604030504040204"/>
                <a:cs typeface="Verdana" panose="020B0604030504040204"/>
              </a:rPr>
              <a:t>q — строка поиска;</a:t>
            </a:r>
            <a:endParaRPr sz="1500" i="1"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r>
              <a:rPr sz="1500" i="1">
                <a:latin typeface="Verdana" panose="020B0604030504040204"/>
                <a:ea typeface="Verdana" panose="020B0604030504040204"/>
                <a:cs typeface="Verdana" panose="020B0604030504040204"/>
              </a:rPr>
              <a:t>f — семейство;</a:t>
            </a:r>
            <a:endParaRPr sz="1500" i="1"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r>
              <a:rPr sz="1500" i="1">
                <a:latin typeface="Verdana" panose="020B0604030504040204"/>
                <a:ea typeface="Verdana" panose="020B0604030504040204"/>
                <a:cs typeface="Verdana" panose="020B0604030504040204"/>
              </a:rPr>
              <a:t>m — производитель;</a:t>
            </a:r>
            <a:endParaRPr sz="1500" i="1"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r>
              <a:rPr sz="1500" i="1">
                <a:latin typeface="Verdana" panose="020B0604030504040204"/>
                <a:ea typeface="Verdana" panose="020B0604030504040204"/>
                <a:cs typeface="Verdana" panose="020B0604030504040204"/>
              </a:rPr>
              <a:t>a — область применения;</a:t>
            </a:r>
            <a:endParaRPr sz="1500" i="1"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r>
              <a:rPr sz="1500">
                <a:latin typeface="Verdana" panose="020B0604030504040204"/>
                <a:ea typeface="Verdana" panose="020B0604030504040204"/>
                <a:cs typeface="Verdana" panose="020B0604030504040204"/>
              </a:rPr>
              <a:t>t, p, g, s — требования по температуре, давлению, расходу и площади.</a:t>
            </a:r>
            <a:endParaRPr sz="1500"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Rectangle 2"/>
          <p:cNvSpPr>
            <a:spLocks noGrp="1"/>
          </p:cNvSpPr>
          <p:nvPr/>
        </p:nvSpPr>
        <p:spPr>
          <a:xfrm>
            <a:off x="528637" y="6643727"/>
            <a:ext cx="7920038" cy="211098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3" name="Picture 6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601663" cy="762000"/>
          </a:xfrm>
          <a:prstGeom prst="rect">
            <a:avLst/>
          </a:prstGeom>
          <a:ln>
            <a:noFill/>
          </a:ln>
        </p:spPr>
      </p:pic>
      <p:sp>
        <p:nvSpPr>
          <p:cNvPr id="2" name="Rectangle 2"/>
          <p:cNvSpPr>
            <a:spLocks noGrp="1"/>
          </p:cNvSpPr>
          <p:nvPr/>
        </p:nvSpPr>
        <p:spPr>
          <a:xfrm>
            <a:off x="683568" y="0"/>
            <a:ext cx="7990532" cy="762000"/>
          </a:xfrm>
          <a:prstGeom prst="rect">
            <a:avLst/>
          </a:prstGeom>
        </p:spPr>
        <p:txBody>
          <a:bodyPr anchor="ctr">
            <a:normAutofit fontScale="78571" lnSpcReduction="20000"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28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Функциональная структура программного комплекса</a:t>
            </a:r>
            <a:endParaRPr sz="2800" b="1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25" name="Picture 6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26" name="Picture 108"/>
          <p:cNvPicPr>
            <a:picLocks noChangeAspect="1"/>
          </p:cNvPicPr>
          <p:nvPr/>
        </p:nvPicPr>
        <p:blipFill>
          <a:blip r:embed="rId3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>
            <a:spLocks noGrp="1"/>
          </p:cNvSpPr>
          <p:nvPr/>
        </p:nvSpPr>
        <p:spPr>
          <a:xfrm>
            <a:off x="8213769" y="6321464"/>
            <a:ext cx="909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5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/1</a:t>
            </a: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9</a:t>
            </a:r>
            <a:endParaRPr b="1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 flipV="1">
            <a:off x="3265700" y="-236531"/>
            <a:ext cx="8073800" cy="467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/>
          <a:p/>
        </p:txBody>
      </p:sp>
      <p:pic>
        <p:nvPicPr>
          <p:cNvPr id="29" name="Изображение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470486"/>
            <a:ext cx="7715250" cy="21551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Rectangle 2"/>
          <p:cNvSpPr>
            <a:spLocks noGrp="1"/>
          </p:cNvSpPr>
          <p:nvPr/>
        </p:nvSpPr>
        <p:spPr>
          <a:xfrm>
            <a:off x="608013" y="0"/>
            <a:ext cx="8015385" cy="449262"/>
          </a:xfrm>
          <a:prstGeom prst="rect">
            <a:avLst/>
          </a:prstGeom>
        </p:spPr>
        <p:txBody>
          <a:bodyPr anchor="ctr">
            <a:normAutofit fontScale="83854" lnSpcReduction="10000"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28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Блок-схема алгоритма подбора</a:t>
            </a:r>
            <a:endParaRPr sz="2800" b="1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24" name="Picture 6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601663" cy="762000"/>
          </a:xfrm>
          <a:prstGeom prst="rect">
            <a:avLst/>
          </a:prstGeom>
          <a:ln>
            <a:noFill/>
          </a:ln>
        </p:spPr>
      </p:pic>
      <p:pic>
        <p:nvPicPr>
          <p:cNvPr id="25" name="Picture 6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26" name="Picture 108"/>
          <p:cNvPicPr>
            <a:picLocks noChangeAspect="1"/>
          </p:cNvPicPr>
          <p:nvPr/>
        </p:nvPicPr>
        <p:blipFill>
          <a:blip r:embed="rId3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>
            <a:spLocks noGrp="1"/>
          </p:cNvSpPr>
          <p:nvPr/>
        </p:nvSpPr>
        <p:spPr>
          <a:xfrm>
            <a:off x="8213769" y="6321464"/>
            <a:ext cx="909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6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/1</a:t>
            </a: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9</a:t>
            </a:r>
            <a:endParaRPr b="1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28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553766"/>
            <a:ext cx="8191500" cy="46077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6762" y="22523"/>
            <a:ext cx="7765678" cy="739477"/>
          </a:xfrm>
        </p:spPr>
        <p:txBody>
          <a:bodyPr>
            <a:normAutofit fontScale="92791"/>
          </a:bodyPr>
          <a:lstStyle/>
          <a:p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UML-диаграмма вариантов использования</a:t>
            </a:r>
            <a:endParaRPr sz="2600" b="1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7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4" name="Picture 6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968" y="0"/>
            <a:ext cx="601663" cy="762000"/>
          </a:xfrm>
          <a:prstGeom prst="rect">
            <a:avLst/>
          </a:prstGeom>
          <a:ln>
            <a:noFill/>
          </a:ln>
        </p:spPr>
      </p:pic>
      <p:pic>
        <p:nvPicPr>
          <p:cNvPr id="25" name="Picture 6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26" name="Picture 108"/>
          <p:cNvPicPr>
            <a:picLocks noChangeAspect="1"/>
          </p:cNvPicPr>
          <p:nvPr/>
        </p:nvPicPr>
        <p:blipFill>
          <a:blip r:embed="rId3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7" name="TextBox 16"/>
          <p:cNvSpPr>
            <a:spLocks noGrp="1"/>
          </p:cNvSpPr>
          <p:nvPr/>
        </p:nvSpPr>
        <p:spPr>
          <a:xfrm>
            <a:off x="8213769" y="6321464"/>
            <a:ext cx="909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7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/1</a:t>
            </a: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9</a:t>
            </a:r>
            <a:endParaRPr b="1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744190" y="98072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/>
        </p:txBody>
      </p:sp>
      <p:sp>
        <p:nvSpPr>
          <p:cNvPr id="6" name="Rectangle 4"/>
          <p:cNvSpPr>
            <a:spLocks noGrp="1"/>
          </p:cNvSpPr>
          <p:nvPr/>
        </p:nvSpPr>
        <p:spPr>
          <a:xfrm>
            <a:off x="683766" y="350142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/>
        </p:txBody>
      </p:sp>
      <p:pic>
        <p:nvPicPr>
          <p:cNvPr id="30" name="Изображение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1080" y="622935"/>
            <a:ext cx="4471670" cy="5733415"/>
          </a:xfrm>
          <a:prstGeom prst="rect">
            <a:avLst/>
          </a:prstGeom>
        </p:spPr>
      </p:pic>
      <p:sp>
        <p:nvSpPr>
          <p:cNvPr id="8" name="Текстовое поле 7"/>
          <p:cNvSpPr txBox="1"/>
          <p:nvPr/>
        </p:nvSpPr>
        <p:spPr>
          <a:xfrm>
            <a:off x="6660515" y="5892800"/>
            <a:ext cx="9734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1400"/>
              <a:t>Бабаян</a:t>
            </a:r>
            <a:endParaRPr lang="ru-RU" altLang="en-US" sz="140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6660515" y="5380990"/>
            <a:ext cx="8128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1400"/>
              <a:t>Саргсян</a:t>
            </a:r>
            <a:endParaRPr lang="ru-RU" altLang="en-US" sz="1400"/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6660515" y="494093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1400"/>
              <a:t>Гаригин</a:t>
            </a:r>
            <a:endParaRPr lang="ru-RU" altLang="en-US" sz="1400"/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6689090" y="4509135"/>
            <a:ext cx="8731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1400"/>
              <a:t>Андреев</a:t>
            </a:r>
            <a:endParaRPr lang="ru-RU" altLang="en-US" sz="1400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6690995" y="4004945"/>
            <a:ext cx="1115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1400">
                <a:sym typeface="+mn-ea"/>
              </a:rPr>
              <a:t>Андреев</a:t>
            </a:r>
            <a:endParaRPr lang="ru-RU" altLang="en-US" sz="1400"/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6660515" y="3563620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1400">
                <a:sym typeface="+mn-ea"/>
              </a:rPr>
              <a:t>Андреев</a:t>
            </a:r>
            <a:endParaRPr lang="ru-RU" altLang="en-US" sz="1400">
              <a:sym typeface="+mn-ea"/>
            </a:endParaRPr>
          </a:p>
        </p:txBody>
      </p:sp>
      <p:sp>
        <p:nvSpPr>
          <p:cNvPr id="14" name="Текстовое поле 13"/>
          <p:cNvSpPr txBox="1"/>
          <p:nvPr/>
        </p:nvSpPr>
        <p:spPr>
          <a:xfrm>
            <a:off x="6647815" y="1839595"/>
            <a:ext cx="8731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1400"/>
              <a:t>Андреев</a:t>
            </a:r>
            <a:endParaRPr lang="ru-RU" altLang="en-US" sz="1400"/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6649720" y="1335405"/>
            <a:ext cx="1115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1400">
                <a:sym typeface="+mn-ea"/>
              </a:rPr>
              <a:t>Андреев</a:t>
            </a:r>
            <a:endParaRPr lang="ru-RU" altLang="en-US" sz="1400"/>
          </a:p>
        </p:txBody>
      </p:sp>
      <p:sp>
        <p:nvSpPr>
          <p:cNvPr id="16" name="Текстовое поле 15"/>
          <p:cNvSpPr txBox="1"/>
          <p:nvPr/>
        </p:nvSpPr>
        <p:spPr>
          <a:xfrm>
            <a:off x="6647815" y="90868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1400">
                <a:sym typeface="+mn-ea"/>
              </a:rPr>
              <a:t>Андреев</a:t>
            </a:r>
            <a:endParaRPr lang="ru-RU" altLang="en-US" sz="1400">
              <a:sym typeface="+mn-ea"/>
            </a:endParaRPr>
          </a:p>
        </p:txBody>
      </p:sp>
      <p:sp>
        <p:nvSpPr>
          <p:cNvPr id="21" name="Текстовое поле 20"/>
          <p:cNvSpPr txBox="1"/>
          <p:nvPr/>
        </p:nvSpPr>
        <p:spPr>
          <a:xfrm>
            <a:off x="6660515" y="3209925"/>
            <a:ext cx="9734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1400"/>
              <a:t>Бабаян</a:t>
            </a:r>
            <a:endParaRPr lang="ru-RU" altLang="en-US" sz="1400"/>
          </a:p>
        </p:txBody>
      </p:sp>
      <p:sp>
        <p:nvSpPr>
          <p:cNvPr id="22" name="Текстовое поле 21"/>
          <p:cNvSpPr txBox="1"/>
          <p:nvPr/>
        </p:nvSpPr>
        <p:spPr>
          <a:xfrm>
            <a:off x="6690995" y="2781300"/>
            <a:ext cx="9734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1400"/>
              <a:t>Бабаян</a:t>
            </a:r>
            <a:endParaRPr lang="ru-RU" altLang="en-US" sz="1400"/>
          </a:p>
        </p:txBody>
      </p:sp>
      <p:sp>
        <p:nvSpPr>
          <p:cNvPr id="23" name="Текстовое поле 22"/>
          <p:cNvSpPr txBox="1"/>
          <p:nvPr/>
        </p:nvSpPr>
        <p:spPr>
          <a:xfrm>
            <a:off x="6660515" y="2277110"/>
            <a:ext cx="9734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1400"/>
              <a:t>Бабаян</a:t>
            </a:r>
            <a:endParaRPr lang="ru-RU" alt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6436"/>
            <a:ext cx="8229600" cy="771140"/>
          </a:xfrm>
        </p:spPr>
        <p:txBody>
          <a:bodyPr/>
          <a:lstStyle/>
          <a:p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Концептуальная модель базы данных</a:t>
            </a:r>
            <a:endParaRPr sz="2600" b="1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7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7" name="Picture 6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" y="0"/>
            <a:ext cx="502012" cy="635793"/>
          </a:xfrm>
          <a:prstGeom prst="rect">
            <a:avLst/>
          </a:prstGeom>
          <a:ln>
            <a:noFill/>
          </a:ln>
        </p:spPr>
      </p:pic>
      <p:pic>
        <p:nvPicPr>
          <p:cNvPr id="28" name="Picture 6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29" name="Picture 108"/>
          <p:cNvPicPr>
            <a:picLocks noChangeAspect="1"/>
          </p:cNvPicPr>
          <p:nvPr/>
        </p:nvPicPr>
        <p:blipFill>
          <a:blip r:embed="rId3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20" name="TextBox 19"/>
          <p:cNvSpPr>
            <a:spLocks noGrp="1"/>
          </p:cNvSpPr>
          <p:nvPr/>
        </p:nvSpPr>
        <p:spPr>
          <a:xfrm>
            <a:off x="8213769" y="6321464"/>
            <a:ext cx="909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8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/1</a:t>
            </a: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9</a:t>
            </a:r>
            <a:endParaRPr b="1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31" name="Изображение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080" y="927735"/>
            <a:ext cx="7971790" cy="53181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6437"/>
            <a:ext cx="8229600" cy="771141"/>
          </a:xfrm>
        </p:spPr>
        <p:txBody>
          <a:bodyPr/>
          <a:lstStyle/>
          <a:p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Даталогическая модель базы данных</a:t>
            </a:r>
            <a:endParaRPr sz="2600" b="1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7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5" name="Picture 6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" y="0"/>
            <a:ext cx="502012" cy="635793"/>
          </a:xfrm>
          <a:prstGeom prst="rect">
            <a:avLst/>
          </a:prstGeom>
          <a:ln>
            <a:noFill/>
          </a:ln>
        </p:spPr>
      </p:pic>
      <p:pic>
        <p:nvPicPr>
          <p:cNvPr id="26" name="Picture 6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27" name="Picture 108"/>
          <p:cNvPicPr>
            <a:picLocks noChangeAspect="1"/>
          </p:cNvPicPr>
          <p:nvPr/>
        </p:nvPicPr>
        <p:blipFill>
          <a:blip r:embed="rId3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8" name="TextBox 17"/>
          <p:cNvSpPr>
            <a:spLocks noGrp="1"/>
          </p:cNvSpPr>
          <p:nvPr/>
        </p:nvSpPr>
        <p:spPr>
          <a:xfrm>
            <a:off x="8213769" y="6321464"/>
            <a:ext cx="909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9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/1</a:t>
            </a: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9</a:t>
            </a:r>
            <a:endParaRPr b="1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29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70" y="934085"/>
            <a:ext cx="8074660" cy="53873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47625" y="-50800"/>
            <a:ext cx="9144000" cy="88751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Сравнение реляционных СУБД</a:t>
            </a:r>
            <a:endParaRPr sz="2600" b="1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21" name="Рисунок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19049"/>
            <a:ext cx="523875" cy="676275"/>
          </a:xfrm>
          <a:prstGeom prst="rect">
            <a:avLst/>
          </a:prstGeom>
          <a:ln>
            <a:noFill/>
          </a:ln>
        </p:spPr>
      </p:pic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293527" y="5542985"/>
            <a:ext cx="8412483" cy="822116"/>
          </a:xfrm>
        </p:spPr>
        <p:txBody>
          <a:bodyPr/>
          <a:lstStyle/>
          <a:p>
            <a:pPr>
              <a:buNone/>
            </a:pPr>
            <a:r>
              <a:rPr sz="1500">
                <a:latin typeface="Verdana" panose="020B0604030504040204"/>
                <a:ea typeface="Verdana" panose="020B0604030504040204"/>
                <a:cs typeface="Verdana" panose="020B0604030504040204"/>
              </a:rPr>
              <a:t>PostgreSQL выбрана за ограничения целостности, MVCC и предсказуемую транзакционную модель. H2 используется только для тестов и локального запуска.</a:t>
            </a:r>
            <a:endParaRPr sz="1500"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11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4" name="Picture 6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25" name="Picture 108"/>
          <p:cNvPicPr>
            <a:picLocks noChangeAspect="1"/>
          </p:cNvPicPr>
          <p:nvPr/>
        </p:nvPicPr>
        <p:blipFill>
          <a:blip r:embed="rId3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5" name="TextBox 14"/>
          <p:cNvSpPr>
            <a:spLocks noGrp="1"/>
          </p:cNvSpPr>
          <p:nvPr/>
        </p:nvSpPr>
        <p:spPr>
          <a:xfrm>
            <a:off x="8100393" y="6321464"/>
            <a:ext cx="1023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10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/1</a:t>
            </a: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9</a:t>
            </a:r>
            <a:endParaRPr b="1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graphicFrame>
        <p:nvGraphicFramePr>
          <p:cNvPr id="27" name="Таблица 2"/>
          <p:cNvGraphicFramePr/>
          <p:nvPr/>
        </p:nvGraphicFramePr>
        <p:xfrm>
          <a:off x="503300" y="1085057"/>
          <a:ext cx="8232650" cy="459267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18729"/>
                <a:gridCol w="3247249"/>
                <a:gridCol w="2866672"/>
              </a:tblGrid>
              <a:tr h="3089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600" b="1"/>
                        <a:t>СУБД</a:t>
                      </a:r>
                      <a:endParaRPr sz="1600" b="1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600" b="1"/>
                        <a:t>Преимущества</a:t>
                      </a:r>
                      <a:endParaRPr sz="1600" b="1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600" b="1"/>
                        <a:t>Вывод</a:t>
                      </a:r>
                      <a:endParaRPr sz="1600" b="1"/>
                    </a:p>
                  </a:txBody>
                  <a:tcPr marL="68580" marR="68580" marT="0" marB="0"/>
                </a:tc>
              </a:tr>
              <a:tr h="134655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/>
                        <a:t>PostgreSQL</a:t>
                      </a:r>
                      <a:endParaRPr sz="140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/>
                        <a:t>MVCC, ограничения, транзакции, зрелая Java-интеграция</a:t>
                      </a:r>
                      <a:endParaRPr sz="140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/>
                        <a:t>Выбрана для эксплуатации</a:t>
                      </a:r>
                      <a:endParaRPr sz="1400"/>
                    </a:p>
                  </a:txBody>
                  <a:tcPr marL="68580" marR="68580" marT="0" marB="0"/>
                </a:tc>
              </a:tr>
              <a:tr h="134655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/>
                        <a:t>MySQL</a:t>
                      </a:r>
                      <a:endParaRPr sz="140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/>
                        <a:t>Высокая распространённость, InnoDB, удобное администрирование</a:t>
                      </a:r>
                      <a:endParaRPr sz="140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/>
                        <a:t>Допустимая альтернатива</a:t>
                      </a:r>
                      <a:endParaRPr sz="1400"/>
                    </a:p>
                  </a:txBody>
                  <a:tcPr marL="68580" marR="68580" marT="0" marB="0"/>
                </a:tc>
              </a:tr>
              <a:tr h="100069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/>
                        <a:t>SQLite</a:t>
                      </a:r>
                      <a:endParaRPr sz="140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/>
                        <a:t>Минимальная установка, один файл</a:t>
                      </a:r>
                      <a:endParaRPr sz="140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/>
                        <a:t>Не для многопользовательского сервера</a:t>
                      </a:r>
                      <a:endParaRPr sz="1400"/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47625" y="-50800"/>
            <a:ext cx="9144000" cy="88751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Сравнение технологических стеков</a:t>
            </a:r>
            <a:endParaRPr sz="2600" b="1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21" name="Рисунок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19049"/>
            <a:ext cx="523875" cy="676275"/>
          </a:xfrm>
          <a:prstGeom prst="rect">
            <a:avLst/>
          </a:prstGeom>
          <a:ln>
            <a:noFill/>
          </a:ln>
        </p:spPr>
      </p:pic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293527" y="5542985"/>
            <a:ext cx="8412483" cy="822116"/>
          </a:xfrm>
        </p:spPr>
        <p:txBody>
          <a:bodyPr/>
          <a:lstStyle/>
          <a:p>
            <a:pPr>
              <a:buNone/>
            </a:pPr>
            <a:r>
              <a:rPr sz="1500">
                <a:latin typeface="Verdana" panose="020B0604030504040204"/>
                <a:ea typeface="Verdana" panose="020B0604030504040204"/>
                <a:cs typeface="Verdana" panose="020B0604030504040204"/>
              </a:rPr>
              <a:t>React + Spring Boot выбраны за компонентный UI, типизированную серверную модель, Spring Security, интеграционные тесты и поставку в одном исполняемом JAR.</a:t>
            </a:r>
            <a:endParaRPr sz="1500"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11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4" name="Picture 6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25" name="Picture 108"/>
          <p:cNvPicPr>
            <a:picLocks noChangeAspect="1"/>
          </p:cNvPicPr>
          <p:nvPr/>
        </p:nvPicPr>
        <p:blipFill>
          <a:blip r:embed="rId3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5" name="TextBox 14"/>
          <p:cNvSpPr>
            <a:spLocks noGrp="1"/>
          </p:cNvSpPr>
          <p:nvPr/>
        </p:nvSpPr>
        <p:spPr>
          <a:xfrm>
            <a:off x="8100393" y="6321464"/>
            <a:ext cx="1023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</a:t>
            </a: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/1</a:t>
            </a: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9</a:t>
            </a:r>
            <a:endParaRPr b="1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graphicFrame>
        <p:nvGraphicFramePr>
          <p:cNvPr id="27" name="Таблица 3"/>
          <p:cNvGraphicFramePr/>
          <p:nvPr/>
        </p:nvGraphicFramePr>
        <p:xfrm>
          <a:off x="395536" y="1196752"/>
          <a:ext cx="8496944" cy="392324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832315"/>
                <a:gridCol w="2963246"/>
                <a:gridCol w="2701383"/>
              </a:tblGrid>
              <a:tr h="3669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Вариант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Сильные стороны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Ограничения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0" marB="0"/>
                </a:tc>
              </a:tr>
              <a:tr h="77618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React + Spring Boot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Экосистема, Security, JPA, Maven/JAR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Требуются знания </a:t>
                      </a:r>
                      <a:r>
                        <a:rPr lang="en-US" altLang="ru-RU"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Java </a:t>
                      </a:r>
                      <a:r>
                        <a:rPr lang="en-US" altLang="en-US"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и </a:t>
                      </a:r>
                      <a:r>
                        <a:rPr lang="en-US" altLang="ru-RU"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JavaScript</a:t>
                      </a:r>
                      <a:r>
                        <a:rPr lang="ru-RU" altLang="en-US"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, н</a:t>
                      </a:r>
                      <a:r>
                        <a:rPr lang="en-US" altLang="en-US"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астройка </a:t>
                      </a:r>
                      <a:r>
                        <a:rPr lang="en-US" altLang="ru-RU"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CORS </a:t>
                      </a:r>
                      <a:r>
                        <a:rPr lang="en-US" altLang="en-US"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и проксирования</a:t>
                      </a:r>
                      <a:endParaRPr lang="en-US" altLang="en-US"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0" marB="0"/>
                </a:tc>
              </a:tr>
              <a:tr h="159468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Vue + NestJS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Низкий порог входа, единый TypeScript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Отдельная Node.js-поставка</a:t>
                      </a:r>
                      <a:r>
                        <a:rPr lang="ru-RU"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, с</a:t>
                      </a:r>
                      <a:r>
                        <a:rPr lang="en-US" altLang="en-US"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ложности с интеграционными тестами</a:t>
                      </a:r>
                      <a:endParaRPr lang="en-US" altLang="en-US"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0" marB="0"/>
                </a:tc>
              </a:tr>
              <a:tr h="118543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Angular + ASP.NET Core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Строгая структура, зрелый сервер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Обучение занимает больше времени</a:t>
                      </a:r>
                      <a:r>
                        <a:rPr lang="ru-RU" altLang="en-US"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, с</a:t>
                      </a:r>
                      <a:r>
                        <a:rPr lang="en-US" altLang="en-US"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ложная настройка окружения</a:t>
                      </a:r>
                      <a:endParaRPr lang="en-US" altLang="en-US"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251520" y="0"/>
            <a:ext cx="8892480" cy="10525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Архитектура ThermoSelect</a:t>
            </a:r>
            <a:endParaRPr sz="2600" b="1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24579" name="Rectangle 2"/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/>
              <a:buChar char="•"/>
              <a:defRPr sz="32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marL="742950" indent="-285750">
              <a:spcBef>
                <a:spcPct val="20000"/>
              </a:spcBef>
              <a:buFont typeface="Arial" panose="020B0604020202020204"/>
              <a:buChar char="–"/>
              <a:defRPr sz="28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marL="1143000" indent="-228600">
              <a:spcBef>
                <a:spcPct val="20000"/>
              </a:spcBef>
              <a:buFont typeface="Arial" panose="020B0604020202020204"/>
              <a:buChar char="•"/>
              <a:defRPr sz="24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marL="1600200" indent="-228600">
              <a:spcBef>
                <a:spcPct val="20000"/>
              </a:spcBef>
              <a:buFont typeface="Arial" panose="020B0604020202020204"/>
              <a:buChar char="–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marL="2057400" indent="-228600">
              <a:spcBef>
                <a:spcPct val="20000"/>
              </a:spcBef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</a:p>
        </p:txBody>
      </p:sp>
      <p:pic>
        <p:nvPicPr>
          <p:cNvPr id="24586" name="Рисунок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523875" cy="676275"/>
          </a:xfrm>
          <a:prstGeom prst="rect">
            <a:avLst/>
          </a:prstGeom>
          <a:ln>
            <a:noFill/>
          </a:ln>
        </p:spPr>
      </p:pic>
      <p:sp>
        <p:nvSpPr>
          <p:cNvPr id="12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4588" name="Picture 6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24589" name="Picture 108"/>
          <p:cNvPicPr>
            <a:picLocks noChangeAspect="1"/>
          </p:cNvPicPr>
          <p:nvPr/>
        </p:nvPicPr>
        <p:blipFill>
          <a:blip r:embed="rId3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6" name="TextBox 15"/>
          <p:cNvSpPr>
            <a:spLocks noGrp="1"/>
          </p:cNvSpPr>
          <p:nvPr/>
        </p:nvSpPr>
        <p:spPr>
          <a:xfrm>
            <a:off x="8100393" y="6321464"/>
            <a:ext cx="1023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</a:t>
            </a: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2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/1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9</a:t>
            </a:r>
            <a:endParaRPr sz="1800" b="1" i="0" u="none" cap="none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 flipV="1">
            <a:off x="4610520" y="-80024"/>
            <a:ext cx="6214610" cy="4571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/>
          <a:p/>
        </p:txBody>
      </p:sp>
      <p:pic>
        <p:nvPicPr>
          <p:cNvPr id="24592" name="Изображение 2459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470486"/>
            <a:ext cx="7715250" cy="21551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179512" y="10270"/>
            <a:ext cx="8658101" cy="1039813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2600" b="1">
                <a:solidFill>
                  <a:srgbClr val="00B05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Характеристика программного обеспечения</a:t>
            </a:r>
            <a:endParaRPr sz="2600" b="1">
              <a:solidFill>
                <a:srgbClr val="00B05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17411" name="Rectangle 2"/>
          <p:cNvSpPr>
            <a:spLocks noGrp="1"/>
          </p:cNvSpPr>
          <p:nvPr/>
        </p:nvSpPr>
        <p:spPr>
          <a:xfrm>
            <a:off x="0" y="1916113"/>
            <a:ext cx="9144000" cy="22320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</a:p>
        </p:txBody>
      </p:sp>
      <p:graphicFrame>
        <p:nvGraphicFramePr>
          <p:cNvPr id="17418" name="Таблица 4"/>
          <p:cNvGraphicFramePr/>
          <p:nvPr/>
        </p:nvGraphicFramePr>
        <p:xfrm>
          <a:off x="542617" y="1216088"/>
          <a:ext cx="8075613" cy="4805198"/>
        </p:xfrm>
        <a:graphic>
          <a:graphicData uri="http://schemas.openxmlformats.org/drawingml/2006/table">
            <a:tbl>
              <a:tblPr/>
              <a:tblGrid>
                <a:gridCol w="4320282"/>
                <a:gridCol w="3755331"/>
              </a:tblGrid>
              <a:tr h="242233">
                <a:tc>
                  <a:txBody>
                    <a:bodyPr/>
                    <a:lstStyle/>
                    <a:p>
                      <a:pPr marL="0" marR="0" indent="0" algn="ctr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Показатель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Значение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4466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Интерфейс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React 19, Router, адаптивный CSS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Сборщик frontend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Vite 8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Backend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Spring Boot 4.1, Java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Безопасность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Spring Security, CSRF, BCrypt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Доступ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USER и ADMIN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База данных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PostgreSQL / файловая H2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Миграции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Flyway, Hibernate validate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Каталог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50 аппаратов, 4 семейства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Поиск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Строгая фильтрация и ранжирование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5004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Сравнение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До 4 моделей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4466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Экспорт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Excel по фильтрам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Администрирование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CRUD, статусы, optimistic locking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Тестирование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JUnit, MockMvc, Vitest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4466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Поставка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Единый исполняемый JAR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Язык интерфейса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Русский</a:t>
                      </a:r>
                      <a:endParaRPr sz="1500" b="0" i="0" u="non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7419" name="Picture 6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601662" cy="762000"/>
          </a:xfrm>
          <a:prstGeom prst="rect">
            <a:avLst/>
          </a:prstGeom>
          <a:ln>
            <a:noFill/>
          </a:ln>
        </p:spPr>
      </p:pic>
      <p:sp>
        <p:nvSpPr>
          <p:cNvPr id="10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17421" name="Picture 6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17422" name="Picture 108"/>
          <p:cNvPicPr>
            <a:picLocks noChangeAspect="1"/>
          </p:cNvPicPr>
          <p:nvPr/>
        </p:nvPicPr>
        <p:blipFill>
          <a:blip r:embed="rId3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>
            <a:spLocks noGrp="1"/>
          </p:cNvSpPr>
          <p:nvPr/>
        </p:nvSpPr>
        <p:spPr>
          <a:xfrm>
            <a:off x="8100393" y="6321464"/>
            <a:ext cx="1023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</a:t>
            </a: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3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/1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9</a:t>
            </a:r>
            <a:endParaRPr sz="1800" b="1" i="0" u="none" cap="none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8603942" y="1556448"/>
          <a:ext cx="8075613" cy="4805198"/>
        </p:xfrm>
        <a:graphic>
          <a:graphicData uri="http://schemas.openxmlformats.org/drawingml/2006/table">
            <a:tbl>
              <a:tblPr/>
              <a:tblGrid>
                <a:gridCol w="4320282"/>
                <a:gridCol w="3755331"/>
              </a:tblGrid>
              <a:tr h="2422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Показатель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Значение</a:t>
                      </a:r>
                      <a:endParaRPr kumimoji="0" lang="ru-RU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44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Технология программирования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Объектно-ориентированное программирование</a:t>
                      </a:r>
                      <a:endParaRPr kumimoji="0" lang="ru-RU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Среда разработки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Intellij IDEA, VS code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Язык программирования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Java, Javascript</a:t>
                      </a:r>
                      <a:endParaRPr kumimoji="0" lang="en-US" alt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Количество классов, структур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Количество функций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12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Модель описания данных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Реляционная модель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СУБД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PostgreSQL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Количество таблиц в базе данных</a:t>
                      </a:r>
                      <a:endParaRPr kumimoji="0" lang="ru-RU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Количество полей в базе данных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18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50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Тип данных в базе данных </a:t>
                      </a:r>
                      <a:endParaRPr kumimoji="0" lang="ru-RU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Int , 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nvarchar</a:t>
                      </a: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date, 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smallint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, decimal(8,3)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44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Тип связей между таблицами в базе данных</a:t>
                      </a:r>
                      <a:endParaRPr kumimoji="0" lang="ru-RU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Один-ко-многим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Текущий объем базы данных, Мб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Максимальный объем базы данных, Тб </a:t>
                      </a:r>
                      <a:endParaRPr kumimoji="0" lang="ru-RU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35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44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Средства</a:t>
                      </a: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обеспечения</a:t>
                      </a: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защиты</a:t>
                      </a: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информации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Авторизация пользователей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Размер исполняемого файла, Кб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49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0" y="-6437"/>
            <a:ext cx="9144000" cy="457200"/>
          </a:xfrm>
          <a:prstGeom prst="rect">
            <a:avLst/>
          </a:prstGeom>
        </p:spPr>
        <p:txBody>
          <a:bodyPr anchor="ctr">
            <a:normAutofit fontScale="92308" lnSpcReduction="10000"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Минимальные системные требования</a:t>
            </a:r>
            <a:endParaRPr sz="2600" b="1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31747" name="Rectangle 7"/>
          <p:cNvSpPr>
            <a:spLocks noGrp="1"/>
          </p:cNvSpPr>
          <p:nvPr/>
        </p:nvSpPr>
        <p:spPr>
          <a:xfrm>
            <a:off x="1514475" y="2195513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/>
              <a:buChar char="•"/>
              <a:defRPr sz="32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marL="742950" indent="-285750">
              <a:spcBef>
                <a:spcPct val="20000"/>
              </a:spcBef>
              <a:buFont typeface="Arial" panose="020B0604020202020204"/>
              <a:buChar char="–"/>
              <a:defRPr sz="28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marL="1143000" indent="-228600">
              <a:spcBef>
                <a:spcPct val="20000"/>
              </a:spcBef>
              <a:buFont typeface="Arial" panose="020B0604020202020204"/>
              <a:buChar char="•"/>
              <a:defRPr sz="24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marL="1600200" indent="-228600">
              <a:spcBef>
                <a:spcPct val="20000"/>
              </a:spcBef>
              <a:buFont typeface="Arial" panose="020B0604020202020204"/>
              <a:buChar char="–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marL="2057400" indent="-228600">
              <a:spcBef>
                <a:spcPct val="20000"/>
              </a:spcBef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br>
              <a:rPr sz="14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endParaRPr sz="1400" b="1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spcBef>
                <a:spcPct val="0"/>
              </a:spcBef>
              <a:buFontTx/>
              <a:buNone/>
            </a:pPr>
          </a:p>
        </p:txBody>
      </p:sp>
      <p:pic>
        <p:nvPicPr>
          <p:cNvPr id="31754" name="Рисунок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523875" cy="676275"/>
          </a:xfrm>
          <a:prstGeom prst="rect">
            <a:avLst/>
          </a:prstGeom>
          <a:ln>
            <a:noFill/>
          </a:ln>
        </p:spPr>
      </p:pic>
      <p:graphicFrame>
        <p:nvGraphicFramePr>
          <p:cNvPr id="31755" name="Таблица 2"/>
          <p:cNvGraphicFramePr/>
          <p:nvPr/>
        </p:nvGraphicFramePr>
        <p:xfrm>
          <a:off x="822325" y="1628775"/>
          <a:ext cx="7040564" cy="28006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20282"/>
                <a:gridCol w="3520282"/>
              </a:tblGrid>
              <a:tr h="2774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Показатель</a:t>
                      </a:r>
                      <a:endParaRPr sz="1400" b="1"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Значение</a:t>
                      </a:r>
                      <a:endParaRPr sz="1400" b="1"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548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Процессор</a:t>
                      </a:r>
                      <a:endParaRPr sz="1400" b="0"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x86-64, 2 ядра</a:t>
                      </a:r>
                      <a:endParaRPr sz="1400" b="0"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7748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Оперативная память</a:t>
                      </a:r>
                      <a:endParaRPr sz="1400" b="0"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4 Г</a:t>
                      </a:r>
                      <a:r>
                        <a:rPr lang="ru-RU" sz="1400" b="0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б</a:t>
                      </a:r>
                      <a:endParaRPr lang="ru-RU" sz="1400" b="0"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7748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Диск</a:t>
                      </a:r>
                      <a:endParaRPr sz="1400" b="0"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500</a:t>
                      </a:r>
                      <a:r>
                        <a:rPr lang="ru-RU" sz="1400" b="0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 Мб</a:t>
                      </a:r>
                      <a:endParaRPr lang="ru-RU" sz="1400" b="0"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856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Операционная система</a:t>
                      </a:r>
                      <a:endParaRPr sz="1400" b="0"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Windows 1</a:t>
                      </a:r>
                      <a:r>
                        <a:rPr lang="ru-RU" sz="1400" b="0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0</a:t>
                      </a:r>
                      <a:endParaRPr sz="1400" b="0"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7748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Среда выполнения</a:t>
                      </a:r>
                      <a:endParaRPr sz="1400" b="0"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Java 25</a:t>
                      </a:r>
                      <a:endParaRPr sz="1400" b="0"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504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Клиент</a:t>
                      </a:r>
                      <a:endParaRPr sz="1400" b="0"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Современный браузер с JavaScript</a:t>
                      </a:r>
                      <a:endParaRPr sz="1400" b="0" i="0" u="non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31757" name="Picture 6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31758" name="Picture 108"/>
          <p:cNvPicPr>
            <a:picLocks noChangeAspect="1"/>
          </p:cNvPicPr>
          <p:nvPr/>
        </p:nvPicPr>
        <p:blipFill>
          <a:blip r:embed="rId3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5" name="TextBox 14"/>
          <p:cNvSpPr>
            <a:spLocks noGrp="1"/>
          </p:cNvSpPr>
          <p:nvPr/>
        </p:nvSpPr>
        <p:spPr>
          <a:xfrm>
            <a:off x="8100393" y="6321464"/>
            <a:ext cx="1023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</a:t>
            </a: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4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/1</a:t>
            </a: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9</a:t>
            </a:r>
            <a:endParaRPr b="1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>
            <a:spLocks noGrp="1"/>
          </p:cNvSpPr>
          <p:nvPr/>
        </p:nvSpPr>
        <p:spPr>
          <a:xfrm>
            <a:off x="683568" y="-6437"/>
            <a:ext cx="7765107" cy="411101"/>
          </a:xfrm>
          <a:prstGeom prst="rect">
            <a:avLst/>
          </a:prstGeom>
        </p:spPr>
        <p:txBody>
          <a:bodyPr anchor="ctr">
            <a:normAutofit fontScale="80453" lnSpcReduction="20000"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Пользовательский сценарий: каталог и карточка</a:t>
            </a:r>
            <a:endParaRPr sz="2600" b="1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18" name="Рисунок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523875" cy="676275"/>
          </a:xfrm>
          <a:prstGeom prst="rect">
            <a:avLst/>
          </a:prstGeom>
          <a:ln>
            <a:noFill/>
          </a:ln>
        </p:spPr>
      </p:pic>
      <p:sp>
        <p:nvSpPr>
          <p:cNvPr id="6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0" name="Picture 6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21" name="Picture 108"/>
          <p:cNvPicPr>
            <a:picLocks noChangeAspect="1"/>
          </p:cNvPicPr>
          <p:nvPr/>
        </p:nvPicPr>
        <p:blipFill>
          <a:blip r:embed="rId3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>
            <a:spLocks noGrp="1"/>
          </p:cNvSpPr>
          <p:nvPr/>
        </p:nvSpPr>
        <p:spPr>
          <a:xfrm>
            <a:off x="8092672" y="6350327"/>
            <a:ext cx="1023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</a:t>
            </a: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5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/1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9</a:t>
            </a:r>
            <a:endParaRPr sz="1800" b="1" i="0" u="none" cap="none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graphicFrame>
        <p:nvGraphicFramePr>
          <p:cNvPr id="23" name="Таблица 18"/>
          <p:cNvGraphicFramePr/>
          <p:nvPr/>
        </p:nvGraphicFramePr>
        <p:xfrm>
          <a:off x="101989" y="1101399"/>
          <a:ext cx="8928264" cy="247839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189032"/>
                <a:gridCol w="4739232"/>
              </a:tblGrid>
              <a:tr h="1661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Критерий</a:t>
                      </a:r>
                      <a:endParaRPr sz="1200" b="1"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3493" marR="63493" marT="9519" marB="0" anchor="ctr" horzOverflow="overflow"/>
                </a:tc>
                <a:tc>
                  <a:txBody>
                    <a:bodyPr/>
                    <a:lstStyle/>
                    <a:p>
                      <a:pPr marL="0" marR="0" indent="17780" algn="ctr" defTabSz="91440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1" u="none" cap="none">
                          <a:ln>
                            <a:noFill/>
                          </a:ln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Пример значения</a:t>
                      </a:r>
                      <a:endParaRPr sz="1200" b="1" u="none" cap="none">
                        <a:ln>
                          <a:noFill/>
                        </a:ln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3493" marR="63493" marT="9519" marB="0" anchor="ctr" horzOverflow="overflow"/>
                </a:tc>
              </a:tr>
              <a:tr h="159782">
                <a:tc>
                  <a:txBody>
                    <a:bodyPr/>
                    <a:lstStyle/>
                    <a:p>
                      <a:pPr marL="0" marR="0" indent="450215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Семейство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Пластинчатый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</a:tr>
              <a:tr h="159782">
                <a:tc>
                  <a:txBody>
                    <a:bodyPr/>
                    <a:lstStyle/>
                    <a:p>
                      <a:pPr marL="0" marR="0" indent="450215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Производитель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Alfa Laval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</a:tr>
              <a:tr h="159782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Применение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Отопление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</a:tr>
              <a:tr h="178839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Материал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Нержавеющая сталь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</a:tr>
              <a:tr h="159782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Давление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Не менее 10 bar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</a:tr>
              <a:tr h="159782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Температура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До 180 °C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</a:tr>
              <a:tr h="159782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Расход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До 6 м³/ч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</a:tr>
              <a:tr h="159782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Результат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Карточки с источниками и Excel-выгрузкой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5" y="3716655"/>
            <a:ext cx="4484370" cy="2127250"/>
          </a:xfrm>
          <a:prstGeom prst="rect">
            <a:avLst/>
          </a:prstGeom>
        </p:spPr>
      </p:pic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3905" y="3716655"/>
            <a:ext cx="4391025" cy="21272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>
            <a:spLocks noGrp="1"/>
          </p:cNvSpPr>
          <p:nvPr/>
        </p:nvSpPr>
        <p:spPr>
          <a:xfrm>
            <a:off x="683568" y="-6437"/>
            <a:ext cx="7765107" cy="411101"/>
          </a:xfrm>
          <a:prstGeom prst="rect">
            <a:avLst/>
          </a:prstGeom>
        </p:spPr>
        <p:txBody>
          <a:bodyPr anchor="ctr">
            <a:normAutofit fontScale="80674" lnSpcReduction="20000"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Администрирование каталога</a:t>
            </a:r>
            <a:endParaRPr sz="2600" b="1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16" name="Рисунок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523875" cy="676275"/>
          </a:xfrm>
          <a:prstGeom prst="rect">
            <a:avLst/>
          </a:prstGeom>
          <a:ln>
            <a:noFill/>
          </a:ln>
        </p:spPr>
      </p:pic>
      <p:sp>
        <p:nvSpPr>
          <p:cNvPr id="6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18" name="Picture 6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19" name="Picture 108"/>
          <p:cNvPicPr>
            <a:picLocks noChangeAspect="1"/>
          </p:cNvPicPr>
          <p:nvPr/>
        </p:nvPicPr>
        <p:blipFill>
          <a:blip r:embed="rId3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>
            <a:spLocks noGrp="1"/>
          </p:cNvSpPr>
          <p:nvPr/>
        </p:nvSpPr>
        <p:spPr>
          <a:xfrm>
            <a:off x="8092672" y="6350327"/>
            <a:ext cx="1023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</a:t>
            </a: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6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/1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9</a:t>
            </a:r>
            <a:endParaRPr sz="1800" b="1" i="0" u="none" cap="none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2" name="TextBox 1"/>
          <p:cNvSpPr>
            <a:spLocks noGrp="1"/>
          </p:cNvSpPr>
          <p:nvPr/>
        </p:nvSpPr>
        <p:spPr>
          <a:xfrm>
            <a:off x="2278534" y="5733256"/>
            <a:ext cx="457517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>
                <a:latin typeface="Verdana" panose="020B0604030504040204"/>
                <a:ea typeface="Verdana" panose="020B0604030504040204"/>
                <a:cs typeface="Verdana" panose="020B0604030504040204"/>
              </a:rPr>
              <a:t>Публикация, редактирование и архивирование записей</a:t>
            </a:r>
            <a:endParaRPr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22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236" y="1114493"/>
            <a:ext cx="7335066" cy="45844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Rectangle 2"/>
          <p:cNvSpPr>
            <a:spLocks noGrp="1"/>
          </p:cNvSpPr>
          <p:nvPr/>
        </p:nvSpPr>
        <p:spPr>
          <a:xfrm>
            <a:off x="827088" y="0"/>
            <a:ext cx="7777360" cy="869019"/>
          </a:xfrm>
          <a:prstGeom prst="rect">
            <a:avLst/>
          </a:prstGeom>
        </p:spPr>
        <p:txBody>
          <a:bodyPr anchor="ctr">
            <a:normAutofit lnSpcReduction="10000"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Тестирование и Excel-выгрузка</a:t>
            </a:r>
            <a:endParaRPr sz="2600" b="1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5" name="Rectangle 15"/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/>
        </p:txBody>
      </p:sp>
      <p:pic>
        <p:nvPicPr>
          <p:cNvPr id="46" name="Picture 6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47" name="Picture 108"/>
          <p:cNvPicPr>
            <a:picLocks noChangeAspect="1"/>
          </p:cNvPicPr>
          <p:nvPr/>
        </p:nvPicPr>
        <p:blipFill>
          <a:blip r:embed="rId2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36" name="TextBox 35"/>
          <p:cNvSpPr>
            <a:spLocks noGrp="1"/>
          </p:cNvSpPr>
          <p:nvPr/>
        </p:nvSpPr>
        <p:spPr>
          <a:xfrm>
            <a:off x="8100393" y="6321464"/>
            <a:ext cx="1023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</a:t>
            </a: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7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/1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9</a:t>
            </a:r>
            <a:endParaRPr sz="1800" b="1" i="0" u="none" cap="none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graphicFrame>
        <p:nvGraphicFramePr>
          <p:cNvPr id="49" name="Таблица 5"/>
          <p:cNvGraphicFramePr/>
          <p:nvPr/>
        </p:nvGraphicFramePr>
        <p:xfrm>
          <a:off x="215106" y="1104966"/>
          <a:ext cx="8569325" cy="138111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020622"/>
                <a:gridCol w="4548703"/>
              </a:tblGrid>
              <a:tr h="2739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Проверка</a:t>
                      </a:r>
                      <a:endParaRPr sz="1500" b="1"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3493" marR="63493" marT="9519" marB="0" anchor="ctr" horzOverflow="overflow"/>
                </a:tc>
                <a:tc>
                  <a:txBody>
                    <a:bodyPr/>
                    <a:lstStyle/>
                    <a:p>
                      <a:pPr marL="0" marR="0" indent="17780" algn="ctr" defTabSz="91440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1" u="none" cap="none">
                          <a:ln>
                            <a:noFill/>
                          </a:ln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Результат</a:t>
                      </a:r>
                      <a:endParaRPr sz="1500" b="1" u="none" cap="none">
                        <a:ln>
                          <a:noFill/>
                        </a:ln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3493" marR="63493" marT="9519" marB="0" anchor="ctr" horzOverflow="overflow"/>
                </a:tc>
              </a:tr>
              <a:tr h="878977">
                <a:tc>
                  <a:txBody>
                    <a:bodyPr/>
                    <a:lstStyle/>
                    <a:p>
                      <a:pPr marL="0" marR="0" indent="450215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mvnw.cmd clean verify</a:t>
                      </a:r>
                      <a:endParaRPr sz="15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Java + React tests и исполняемый JAR — успешно</a:t>
                      </a:r>
                      <a:endParaRPr sz="15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15" name="TextBox 14"/>
          <p:cNvSpPr>
            <a:spLocks noGrp="1"/>
          </p:cNvSpPr>
          <p:nvPr/>
        </p:nvSpPr>
        <p:spPr>
          <a:xfrm>
            <a:off x="2284413" y="5568369"/>
            <a:ext cx="457517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>
                <a:latin typeface="Verdana" panose="020B0604030504040204"/>
                <a:ea typeface="Verdana" panose="020B0604030504040204"/>
                <a:cs typeface="Verdana" panose="020B0604030504040204"/>
              </a:rPr>
              <a:t>Проверены Java API, роли, CSRF, фильтры, карточки, сравнение, CRUD и Excel-выгрузка</a:t>
            </a:r>
            <a:endParaRPr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3"/>
          <a:srcRect r="78" b="10990"/>
          <a:stretch>
            <a:fillRect/>
          </a:stretch>
        </p:blipFill>
        <p:spPr>
          <a:xfrm>
            <a:off x="122555" y="4368165"/>
            <a:ext cx="8813165" cy="1085215"/>
          </a:xfrm>
          <a:prstGeom prst="rect">
            <a:avLst/>
          </a:prstGeom>
        </p:spPr>
      </p:pic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55" y="3356610"/>
            <a:ext cx="8812530" cy="985520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555" y="2348865"/>
            <a:ext cx="8803640" cy="9817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Rectangle 2"/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="ctr">
            <a:normAutofit fontScale="92308" lnSpcReduction="10000"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Выводы по работе</a:t>
            </a:r>
            <a:endParaRPr sz="2600" b="1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149" name="Rectangle 2"/>
          <p:cNvSpPr>
            <a:spLocks noGrp="1"/>
          </p:cNvSpPr>
          <p:nvPr/>
        </p:nvSpPr>
        <p:spPr>
          <a:xfrm>
            <a:off x="827584" y="2345883"/>
            <a:ext cx="7930355" cy="183127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/>
              <a:buChar char="•"/>
              <a:defRPr sz="32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marL="742950" indent="-285750">
              <a:spcBef>
                <a:spcPct val="20000"/>
              </a:spcBef>
              <a:buFont typeface="Arial" panose="020B0604020202020204"/>
              <a:buChar char="–"/>
              <a:defRPr sz="28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marL="1143000" indent="-228600">
              <a:spcBef>
                <a:spcPct val="20000"/>
              </a:spcBef>
              <a:buFont typeface="Arial" panose="020B0604020202020204"/>
              <a:buChar char="•"/>
              <a:defRPr sz="24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marL="1600200" indent="-228600">
              <a:spcBef>
                <a:spcPct val="20000"/>
              </a:spcBef>
              <a:buFont typeface="Arial" panose="020B0604020202020204"/>
              <a:buChar char="–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marL="2057400" indent="-228600">
              <a:spcBef>
                <a:spcPct val="20000"/>
              </a:spcBef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>
            <a:pPr>
              <a:buNone/>
            </a:pPr>
          </a:p>
        </p:txBody>
      </p:sp>
      <p:pic>
        <p:nvPicPr>
          <p:cNvPr id="6156" name="Picture 6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-18633"/>
            <a:ext cx="601663" cy="762000"/>
          </a:xfrm>
          <a:prstGeom prst="rect">
            <a:avLst/>
          </a:prstGeom>
          <a:ln>
            <a:noFill/>
          </a:ln>
        </p:spPr>
      </p:pic>
      <p:sp>
        <p:nvSpPr>
          <p:cNvPr id="5" name="Rectangle 15"/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/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36114" y="978329"/>
            <a:ext cx="9101535" cy="3412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114000"/>
              </a:lnSpc>
              <a:spcAft>
                <a:spcPts val="800"/>
              </a:spcAft>
              <a:buNone/>
            </a:pPr>
            <a:r>
              <a:rPr>
                <a:latin typeface="Verdana" panose="020B0604030504040204"/>
                <a:ea typeface="Verdana" panose="020B0604030504040204"/>
                <a:cs typeface="Verdana" panose="020B0604030504040204"/>
              </a:rPr>
              <a:t>В результате практики:</a:t>
            </a:r>
            <a:endParaRPr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indent="450215">
              <a:lnSpc>
                <a:spcPct val="114000"/>
              </a:lnSpc>
              <a:spcAft>
                <a:spcPts val="800"/>
              </a:spcAft>
              <a:buNone/>
            </a:pPr>
            <a:r>
              <a:rPr>
                <a:latin typeface="Verdana" panose="020B0604030504040204"/>
                <a:ea typeface="Verdana" panose="020B0604030504040204"/>
                <a:cs typeface="Verdana" panose="020B0604030504040204"/>
              </a:rPr>
              <a:t>1) разработана нормализованная модель каталога и загружено 50 аппаратов;</a:t>
            </a:r>
            <a:endParaRPr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indent="450215">
              <a:lnSpc>
                <a:spcPct val="114000"/>
              </a:lnSpc>
              <a:buNone/>
            </a:pPr>
            <a:r>
              <a:rPr>
                <a:latin typeface="Verdana" panose="020B0604030504040204"/>
                <a:ea typeface="Verdana" panose="020B0604030504040204"/>
                <a:cs typeface="Verdana" panose="020B0604030504040204"/>
              </a:rPr>
              <a:t>2) реализованы 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регистрация</a:t>
            </a:r>
            <a:r>
              <a:rPr>
                <a:latin typeface="Verdana" panose="020B0604030504040204"/>
                <a:ea typeface="Verdana" panose="020B0604030504040204"/>
                <a:cs typeface="Verdana" panose="020B0604030504040204"/>
              </a:rPr>
              <a:t>, вход, каталог, фильтры, карточка, сравнение и Excel;</a:t>
            </a:r>
            <a:endParaRPr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indent="450215">
              <a:lnSpc>
                <a:spcPct val="114000"/>
              </a:lnSpc>
              <a:buNone/>
            </a:pPr>
            <a:r>
              <a:rPr>
                <a:latin typeface="Verdana" panose="020B0604030504040204"/>
                <a:ea typeface="Verdana" panose="020B0604030504040204"/>
                <a:cs typeface="Verdana" panose="020B0604030504040204"/>
              </a:rPr>
              <a:t>3) создана админ</a:t>
            </a:r>
            <a:r>
              <a:rPr lang="ru-RU">
                <a:latin typeface="Verdana" panose="020B0604030504040204"/>
                <a:ea typeface="Verdana" panose="020B0604030504040204"/>
                <a:cs typeface="Verdana" panose="020B0604030504040204"/>
              </a:rPr>
              <a:t>истративная панель</a:t>
            </a:r>
            <a:r>
              <a:rPr>
                <a:latin typeface="Verdana" panose="020B0604030504040204"/>
                <a:ea typeface="Verdana" panose="020B0604030504040204"/>
                <a:cs typeface="Verdana" panose="020B0604030504040204"/>
              </a:rPr>
              <a:t> со статусами;</a:t>
            </a:r>
            <a:endParaRPr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indent="450215">
              <a:lnSpc>
                <a:spcPct val="114000"/>
              </a:lnSpc>
              <a:buNone/>
            </a:pPr>
            <a:r>
              <a:rPr>
                <a:latin typeface="Verdana" panose="020B0604030504040204"/>
                <a:ea typeface="Verdana" panose="020B0604030504040204"/>
                <a:cs typeface="Verdana" panose="020B0604030504040204"/>
              </a:rPr>
              <a:t>4) обеспечены CSRF-защита, отзыв доступа и контроль ролей;</a:t>
            </a:r>
            <a:endParaRPr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indent="450215">
              <a:lnSpc>
                <a:spcPct val="114000"/>
              </a:lnSpc>
              <a:buNone/>
            </a:pPr>
            <a:r>
              <a:rPr>
                <a:latin typeface="Verdana" panose="020B0604030504040204"/>
                <a:ea typeface="Verdana" panose="020B0604030504040204"/>
                <a:cs typeface="Verdana" panose="020B0604030504040204"/>
              </a:rPr>
              <a:t>5) Java- и React-тесты объединены с </a:t>
            </a:r>
            <a:r>
              <a:rPr lang="ru-RU">
                <a:latin typeface="Verdana" panose="020B0604030504040204"/>
                <a:ea typeface="Verdana" panose="020B0604030504040204"/>
                <a:cs typeface="Verdana" panose="020B0604030504040204"/>
              </a:rPr>
              <a:t>программной </a:t>
            </a:r>
            <a:r>
              <a:rPr>
                <a:latin typeface="Verdana" panose="020B0604030504040204"/>
                <a:ea typeface="Verdana" panose="020B0604030504040204"/>
                <a:cs typeface="Verdana" panose="020B0604030504040204"/>
              </a:rPr>
              <a:t>сборкой одного JAR.</a:t>
            </a:r>
            <a:endParaRPr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indent="450215">
              <a:lnSpc>
                <a:spcPct val="114000"/>
              </a:lnSpc>
              <a:buNone/>
            </a:pPr>
          </a:p>
          <a:p>
            <a:pPr indent="450215">
              <a:buNone/>
            </a:pPr>
          </a:p>
        </p:txBody>
      </p:sp>
      <p:pic>
        <p:nvPicPr>
          <p:cNvPr id="6159" name="Picture 6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6160" name="Picture 108"/>
          <p:cNvPicPr>
            <a:picLocks noChangeAspect="1"/>
          </p:cNvPicPr>
          <p:nvPr/>
        </p:nvPicPr>
        <p:blipFill>
          <a:blip r:embed="rId3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>
            <a:spLocks noGrp="1"/>
          </p:cNvSpPr>
          <p:nvPr/>
        </p:nvSpPr>
        <p:spPr>
          <a:xfrm>
            <a:off x="8100393" y="6321464"/>
            <a:ext cx="1023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</a:t>
            </a: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8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/1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9</a:t>
            </a:r>
            <a:endParaRPr sz="1800" b="1" i="0" u="none" cap="none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Rectangle 2"/>
          <p:cNvSpPr>
            <a:spLocks noGrp="1"/>
          </p:cNvSpPr>
          <p:nvPr/>
        </p:nvSpPr>
        <p:spPr>
          <a:xfrm>
            <a:off x="233772" y="2507537"/>
            <a:ext cx="8676456" cy="134076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40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Спасибо за внимание!</a:t>
            </a:r>
            <a:endParaRPr sz="4000" b="1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149" name="Rectangle 2"/>
          <p:cNvSpPr>
            <a:spLocks noGrp="1"/>
          </p:cNvSpPr>
          <p:nvPr/>
        </p:nvSpPr>
        <p:spPr>
          <a:xfrm>
            <a:off x="827584" y="2345883"/>
            <a:ext cx="7930355" cy="183127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/>
              <a:buChar char="•"/>
              <a:defRPr sz="32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marL="742950" indent="-285750">
              <a:spcBef>
                <a:spcPct val="20000"/>
              </a:spcBef>
              <a:buFont typeface="Arial" panose="020B0604020202020204"/>
              <a:buChar char="–"/>
              <a:defRPr sz="28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marL="1143000" indent="-228600">
              <a:spcBef>
                <a:spcPct val="20000"/>
              </a:spcBef>
              <a:buFont typeface="Arial" panose="020B0604020202020204"/>
              <a:buChar char="•"/>
              <a:defRPr sz="24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marL="1600200" indent="-228600">
              <a:spcBef>
                <a:spcPct val="20000"/>
              </a:spcBef>
              <a:buFont typeface="Arial" panose="020B0604020202020204"/>
              <a:buChar char="–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marL="2057400" indent="-228600">
              <a:spcBef>
                <a:spcPct val="20000"/>
              </a:spcBef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>
            <a:pPr>
              <a:buNone/>
            </a:pPr>
          </a:p>
        </p:txBody>
      </p:sp>
      <p:sp>
        <p:nvSpPr>
          <p:cNvPr id="5" name="Rectangle 15"/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/>
        </p:txBody>
      </p:sp>
      <p:pic>
        <p:nvPicPr>
          <p:cNvPr id="6156" name="Picture 6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6157" name="Picture 108"/>
          <p:cNvPicPr>
            <a:picLocks noChangeAspect="1"/>
          </p:cNvPicPr>
          <p:nvPr/>
        </p:nvPicPr>
        <p:blipFill>
          <a:blip r:embed="rId2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>
            <a:spLocks noGrp="1"/>
          </p:cNvSpPr>
          <p:nvPr/>
        </p:nvSpPr>
        <p:spPr>
          <a:xfrm>
            <a:off x="8100393" y="6321464"/>
            <a:ext cx="1023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</a:t>
            </a: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9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/1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9</a:t>
            </a:r>
            <a:endParaRPr sz="1800" b="1" i="0" u="none" cap="none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7084</Words>
  <Application>WPS Presentation</Application>
  <PresentationFormat>Converted Presentation</PresentationFormat>
  <Paragraphs>460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4" baseType="lpstr">
      <vt:lpstr>Arial</vt:lpstr>
      <vt:lpstr>SimSun</vt:lpstr>
      <vt:lpstr>Wingdings</vt:lpstr>
      <vt:lpstr>Calibri</vt:lpstr>
      <vt:lpstr>Arial</vt:lpstr>
      <vt:lpstr>Wingdings</vt:lpstr>
      <vt:lpstr>Times New Roman</vt:lpstr>
      <vt:lpstr>Verdana</vt:lpstr>
      <vt:lpstr>Microsoft YaHei</vt:lpstr>
      <vt:lpstr>Arial Unicode MS</vt:lpstr>
      <vt:lpstr>Times New Roman</vt:lpstr>
      <vt:lpstr>Verdana</vt:lpstr>
      <vt:lpstr>Calibri</vt:lpstr>
      <vt:lpstr>Тема Office</vt:lpstr>
      <vt:lpstr>1_Тема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UML-диаграмма вариантов использования</vt:lpstr>
      <vt:lpstr>Концептуальная модель базы данных</vt:lpstr>
      <vt:lpstr>Даталогическая модель базы данных</vt:lpstr>
      <vt:lpstr>PostgreSQL выбрана за ограничения целостности, MVCC и предсказуемую транзакционную модель. H2 используется только для тестов и локального запуска.</vt:lpstr>
      <vt:lpstr>React + Spring Boot выбраны за компонентный UI, типизированную серверную модель, Spring Security, интеграционные тесты и поставку в одном исполняемом JAR.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milan</cp:lastModifiedBy>
  <cp:revision>5</cp:revision>
  <dcterms:created xsi:type="dcterms:W3CDTF">2026-07-17T06:57:18Z</dcterms:created>
  <dcterms:modified xsi:type="dcterms:W3CDTF">2026-07-17T12:00:30Z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1049-12.1.0.26880</vt:lpwstr>
  </property>
  <property fmtid="{D5CDD505-2E9C-101B-9397-08002B2CF9AE}" pid="3" name="ICV">
    <vt:lpwstr>DD6D9E37201D4EB39A10783B46C05DFB_13</vt:lpwstr>
  </property>
</Properties>
</file>
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5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A7477CAA-39EC-4A3C-B30F-483B0C313518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873C7CE9-2C36-4AB4-80D4-5D9BEF371F62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F461DC81-4FBF-44DA-81CE-71161BF5EB69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A11DFABB-070A-4FA0-ABAA-304D2DD234B5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0BD74D36-956F-4FF2-814D-E29C9C72C39E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A27A3921-22F9-43BB-B1D5-D9E8256F07EA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A58A097C-28B0-4DD3-8E7D-44817E9F253E}" type="datetime1">
              <a:rPr/>
            </a:fld>
            <a:endParaRPr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7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9780E0D0-A7E8-454F-BA9A-22476B227A8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E7C7EB1C-1500-43B4-937A-B81AB320D89A}" type="datetime1">
              <a:rPr/>
            </a:fld>
            <a:endParaRPr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9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B5D3CA77-2B79-4D28-A359-7906A03D828A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E089461A-FB79-4DD0-ABA4-06D82E1288FC}" type="datetime1">
              <a:rPr/>
            </a:fld>
            <a:endParaRPr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FE0CFF0D-5C0D-47A5-AA7D-0C17C09FCD3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/>
      <p:sp>
        <p:nvSpPr>
          <p:cNvPr id="2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E3903FEC-6E62-4C5A-ACE5-0378AB797301}" type="datetime1">
              <a:rPr/>
            </a:fld>
            <a:endParaRPr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4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D0B1B57B-5B43-4922-9002-E42FC20CE5A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9251B0CA-8942-4980-BD77-7CC6A667AB00}" type="datetime1">
              <a:rPr/>
            </a:fld>
            <a:endParaRPr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7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83F2A46D-B3E9-41EA-A240-3EE17F0AC0CA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buNone/>
            </a:pPr>
          </a:p>
        </p:txBody>
      </p:sp>
      <p:sp>
        <p:nvSpPr>
          <p:cNvPr id="4" name="Текст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6C8F958A-2D6D-4875-986D-AF5FBA19ABD1}" type="datetime1">
              <a:rPr/>
            </a:fld>
            <a:endParaRPr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7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A00C1DD5-ACC8-4889-BD5C-089010C86BD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3C3E9EB4-B04E-422B-9B3D-EF7D97544E0B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B047F75-ED67-43E6-AFA6-C14148BB324C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/>
      <p:sp>
        <p:nvSpPr>
          <p:cNvPr id="2" name="Вертикальный заголовок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BA9DA5F9-126B-4EA9-A15C-CF297A780BE6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63A14A1-7B2A-4AD6-8E7A-48AF56E6C7BE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E7B210D8-868B-45DC-B38C-6081352DD587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A6551880-92B5-4C4B-AFA4-EC2D7BE30B4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E83921B3-380D-4D19-B070-A5E047752D17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9BE4AA24-EE45-4450-B33F-4D9BFC364EBE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001EC8AA-89A6-418B-A073-D8CC16F9B9E9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92A2FD6C-ADD2-4CA4-A4FF-6C5D3D8399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5A034717-ECD2-4CFF-B8C0-459B86DB5831}" type="datetime1">
              <a:rPr/>
            </a:fld>
            <a:endParaRPr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7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CCE9E273-C95E-4783-BE68-A3647C2C8E98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0569B68E-641E-461A-8692-0FE47A0C67BC}" type="datetime1">
              <a:rPr/>
            </a:fld>
            <a:endParaRPr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9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D7F649C3-CC5C-422E-9F9E-04276A8A61D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E8FD7DC8-F0D6-4C1A-924A-631457F566B4}" type="datetime1">
              <a:rPr/>
            </a:fld>
            <a:endParaRPr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63A31271-66D5-416C-B582-B08564A7EC3C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/>
      <p:sp>
        <p:nvSpPr>
          <p:cNvPr id="2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15417BFB-71D3-4307-B157-AC411F7B0FDD}" type="datetime1">
              <a:rPr/>
            </a:fld>
            <a:endParaRPr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4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ECD39597-5E58-4977-B37F-D2A278C3B6A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1C29ED1A-0E8A-4F73-9AF0-5E29CCEDAB7E}" type="datetime1">
              <a:rPr/>
            </a:fld>
            <a:endParaRPr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7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4A5223FA-7999-4A08-BFA2-1568F7C45CA5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buNone/>
            </a:pPr>
          </a:p>
        </p:txBody>
      </p:sp>
      <p:sp>
        <p:nvSpPr>
          <p:cNvPr id="4" name="Текст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CB54EC7D-192C-4B0D-885F-0CB21C613137}" type="datetime1">
              <a:rPr/>
            </a:fld>
            <a:endParaRPr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7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D931F73F-5100-4628-8B70-8C38A67B6C0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099090A8-DB27-47FB-87F3-C42F3BCDF677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1131108C-0D76-4960-805A-404849839B5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/>
      <p:sp>
        <p:nvSpPr>
          <p:cNvPr id="2" name="Вертикальный заголовок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9DD47A0E-6F08-4644-899B-2ECC727C3B6B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6CF60478-AE21-482E-B767-D5EA2B2B35DD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6C65F0D8-1D7A-4AE6-A007-3DC97855F165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algn="r"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fld id="{2A43C248-CEC2-4AE8-A565-3EEA63B3E66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  <a:lvl2pPr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2pPr>
      <a:lvl3pPr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3pPr>
      <a:lvl4pPr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4pPr>
      <a:lvl5pPr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5pPr>
      <a:lvl6pPr marL="4572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6pPr>
      <a:lvl7pPr marL="9144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7pPr>
      <a:lvl8pPr marL="13716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8pPr>
      <a:lvl9pPr marL="18288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9pPr>
    </p:titleStyle>
    <p:bodyStyle>
      <a:lvl1pPr marL="342900" indent="-342900" algn="l">
        <a:spcBef>
          <a:spcPct val="20000"/>
        </a:spcBef>
        <a:spcAft>
          <a:spcPct val="0"/>
        </a:spcAft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ct val="20000"/>
        </a:spcBef>
        <a:spcAft>
          <a:spcPct val="0"/>
        </a:spcAft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ct val="20000"/>
        </a:spcBef>
        <a:spcAft>
          <a:spcPct val="0"/>
        </a:spcAft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ct val="20000"/>
        </a:spcBef>
        <a:spcAft>
          <a:spcPct val="0"/>
        </a:spcAft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ct val="20000"/>
        </a:spcBef>
        <a:spcAft>
          <a:spcPct val="0"/>
        </a:spcAft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pPr>
              <a:buNone/>
            </a:pPr>
            <a:r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/>
          <a:p>
            <a:pPr>
              <a:buNone/>
            </a:pPr>
            <a:r>
              <a:t>Образец текста</a:t>
            </a:r>
          </a:p>
          <a:p>
            <a:pPr>
              <a:buNone/>
            </a:pPr>
            <a:r>
              <a:t>Второй уровень</a:t>
            </a:r>
          </a:p>
          <a:p>
            <a:pPr>
              <a:buNone/>
            </a:pPr>
            <a:r>
              <a:t>Третий уровень</a:t>
            </a:r>
          </a:p>
          <a:p>
            <a:pPr>
              <a:buNone/>
            </a:pPr>
            <a:r>
              <a:t>Четвертый уровень</a:t>
            </a:r>
          </a:p>
          <a:p>
            <a:pPr>
              <a:buNone/>
            </a:pPr>
            <a:r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6C109E9F-D2C8-4FFA-BD39-01AD945D8983}" type="datetime1">
              <a:rPr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algn="r">
              <a:buNone/>
              <a:defRPr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>
              <a:buNone/>
            </a:pPr>
            <a:fld id="{C643C1AA-6C92-4B23-BCF3-3A2D9E4734F9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  <a:lvl2pPr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2pPr>
      <a:lvl3pPr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3pPr>
      <a:lvl4pPr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4pPr>
      <a:lvl5pPr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5pPr>
      <a:lvl6pPr marL="4572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6pPr>
      <a:lvl7pPr marL="9144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7pPr>
      <a:lvl8pPr marL="13716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8pPr>
      <a:lvl9pPr marL="18288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 panose="020F0502020204030204"/>
          <a:ea typeface="Calibri" panose="020F0502020204030204"/>
          <a:cs typeface="Calibri" panose="020F0502020204030204"/>
        </a:defRPr>
      </a:lvl9pPr>
    </p:titleStyle>
    <p:bodyStyle>
      <a:lvl1pPr marL="342900" indent="-342900" algn="l">
        <a:spcBef>
          <a:spcPct val="20000"/>
        </a:spcBef>
        <a:spcAft>
          <a:spcPct val="0"/>
        </a:spcAft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ct val="20000"/>
        </a:spcBef>
        <a:spcAft>
          <a:spcPct val="0"/>
        </a:spcAft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ct val="20000"/>
        </a:spcBef>
        <a:spcAft>
          <a:spcPct val="0"/>
        </a:spcAft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ct val="20000"/>
        </a:spcBef>
        <a:spcAft>
          <a:spcPct val="0"/>
        </a:spcAft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ct val="20000"/>
        </a:spcBef>
        <a:spcAft>
          <a:spcPct val="0"/>
        </a:spcAft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111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sp>
        <p:nvSpPr>
          <p:cNvPr id="4100" name="Rectangle 3"/>
          <p:cNvSpPr>
            <a:spLocks noGrp="1"/>
          </p:cNvSpPr>
          <p:nvPr/>
        </p:nvSpPr>
        <p:spPr>
          <a:xfrm>
            <a:off x="0" y="6597650"/>
            <a:ext cx="9144000" cy="2143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 marL="0" marR="0" indent="0" algn="ctr" defTabSz="91440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Санкт-Петербург 2026</a:t>
            </a:r>
            <a:endParaRPr sz="1400" b="1" i="0" u="none" cap="none">
              <a:ln>
                <a:noFill/>
              </a:ln>
              <a:solidFill>
                <a:prstClr val="black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Rectangle 4"/>
          <p:cNvSpPr>
            <a:spLocks noGrp="1"/>
          </p:cNvSpPr>
          <p:nvPr/>
        </p:nvSpPr>
        <p:spPr>
          <a:xfrm>
            <a:off x="250825" y="0"/>
            <a:ext cx="8497888" cy="8366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marR="0" indent="-342900" algn="ctr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Минобрнауки</a:t>
            </a: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России</a:t>
            </a:r>
            <a:endParaRPr sz="1400" b="0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342900" marR="0" indent="-342900" algn="ctr" defTabSz="9144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/>
              <a:buNone/>
            </a:pP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федеральное государственное бюджетное образовательное учреждение</a:t>
            </a: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высшего</a:t>
            </a: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2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образования                                                    </a:t>
            </a: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Санкт-Петербургский государственный технологический институт (технический университет)</a:t>
            </a:r>
            <a:endParaRPr sz="1400" b="0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Rectangle 8"/>
          <p:cNvSpPr>
            <a:spLocks noGrp="1"/>
          </p:cNvSpPr>
          <p:nvPr/>
        </p:nvSpPr>
        <p:spPr>
          <a:xfrm>
            <a:off x="0" y="2276475"/>
            <a:ext cx="9144000" cy="4001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0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УЧЕБНАЯ ПРАКТИКА</a:t>
            </a:r>
            <a:endParaRPr sz="20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Rectangle 10"/>
          <p:cNvSpPr>
            <a:spLocks noGrp="1"/>
          </p:cNvSpPr>
          <p:nvPr/>
        </p:nvSpPr>
        <p:spPr>
          <a:xfrm>
            <a:off x="827088" y="688975"/>
            <a:ext cx="7920037" cy="1600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УГСН 09.00.00 «Информатика и вычислительная техника»</a:t>
            </a:r>
            <a:endParaRPr sz="1400" b="0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Направление подготовки: 09.03.01 «Информатика и вычислительная техника»</a:t>
            </a:r>
            <a:endParaRPr sz="1400" b="0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Направленность: Системы автоматизированного проектирования</a:t>
            </a:r>
            <a:endParaRPr sz="1400" b="0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Уровень подготовки: бакалавр</a:t>
            </a:r>
            <a:endParaRPr sz="1400" b="0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Форма обучения: очная</a:t>
            </a:r>
            <a:endParaRPr sz="1400" b="0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Факультет информационных технологий и управления</a:t>
            </a:r>
            <a:endParaRPr sz="1400" b="0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Кафедра систем автоматизированного проектирования и управления</a:t>
            </a:r>
            <a:endParaRPr sz="1400" b="0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104" name="Rectangle 1222"/>
          <p:cNvSpPr>
            <a:spLocks noGrp="1"/>
          </p:cNvSpPr>
          <p:nvPr/>
        </p:nvSpPr>
        <p:spPr>
          <a:xfrm>
            <a:off x="1082675" y="2781300"/>
            <a:ext cx="184150" cy="369888"/>
          </a:xfrm>
          <a:prstGeom prst="rect">
            <a:avLst/>
          </a:prstGeom>
          <a:noFill/>
          <a:ln>
            <a:noFill/>
          </a:ln>
        </p:spPr>
        <p:txBody>
          <a:bodyPr wrap="none" anchor="b">
            <a:spAutoFit/>
          </a:bodyPr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4105" name="Rectangle 1224"/>
          <p:cNvSpPr>
            <a:spLocks noGrp="1"/>
          </p:cNvSpPr>
          <p:nvPr/>
        </p:nvSpPr>
        <p:spPr>
          <a:xfrm>
            <a:off x="1082675" y="2781300"/>
            <a:ext cx="184150" cy="369888"/>
          </a:xfrm>
          <a:prstGeom prst="rect">
            <a:avLst/>
          </a:prstGeom>
          <a:noFill/>
          <a:ln>
            <a:noFill/>
          </a:ln>
        </p:spPr>
        <p:txBody>
          <a:bodyPr wrap="none" anchor="b">
            <a:spAutoFit/>
          </a:bodyPr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4106" name="Rectangle 2"/>
          <p:cNvSpPr>
            <a:spLocks noGrp="1"/>
          </p:cNvSpPr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4107" name="Rectangle 4"/>
          <p:cNvSpPr>
            <a:spLocks noGrp="1"/>
          </p:cNvSpPr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graphicFrame>
        <p:nvGraphicFramePr>
          <p:cNvPr id="4120" name="Group 58"/>
          <p:cNvGraphicFramePr/>
          <p:nvPr/>
        </p:nvGraphicFramePr>
        <p:xfrm>
          <a:off x="-6592" y="3823886"/>
          <a:ext cx="9144000" cy="822720"/>
        </p:xfrm>
        <a:graphic>
          <a:graphicData uri="http://schemas.openxmlformats.org/drawingml/2006/table">
            <a:tbl>
              <a:tblPr/>
              <a:tblGrid>
                <a:gridCol w="2268538"/>
                <a:gridCol w="6875462"/>
              </a:tblGrid>
              <a:tr h="169166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/>
                        <a:buNone/>
                      </a:pPr>
                      <a:r>
                        <a:rPr sz="14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Обучающийся</a:t>
                      </a:r>
                      <a:endParaRPr sz="1400" b="1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T="45660" marB="45660" horzOverflow="overflow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/>
                        <a:buNone/>
                      </a:pPr>
                      <a:r>
                        <a:rPr sz="1400" b="1" i="1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Студент гр. </a:t>
                      </a:r>
                      <a:r>
                        <a:rPr lang="ru-RU" sz="1400" b="1" i="1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443 Андреев Артем Игоревич</a:t>
                      </a:r>
                      <a:endParaRPr lang="ru-RU" sz="1400" b="1" i="1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/>
                        <a:buNone/>
                      </a:pPr>
                      <a:r>
                        <a:rPr sz="1400" b="1" i="1">
                          <a:ln>
                            <a:noFill/>
                          </a:ln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Студент гр. </a:t>
                      </a:r>
                      <a:r>
                        <a:rPr lang="ru-RU" sz="1400" b="1" i="1">
                          <a:ln>
                            <a:noFill/>
                          </a:ln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443 Бабаян Тигран Витальевич</a:t>
                      </a:r>
                      <a:endParaRPr lang="ru-RU" sz="1400" b="1" i="1">
                        <a:ln>
                          <a:noFill/>
                        </a:ln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+mn-ea"/>
                      </a:endParaRPr>
                    </a:p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/>
                        <a:buNone/>
                      </a:pPr>
                      <a:r>
                        <a:rPr sz="1400" b="1" i="1">
                          <a:ln>
                            <a:noFill/>
                          </a:ln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Студент гр. </a:t>
                      </a:r>
                      <a:r>
                        <a:rPr lang="ru-RU" sz="1400" b="1" i="1">
                          <a:ln>
                            <a:noFill/>
                          </a:ln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443 Гаригин Милан Андреевич</a:t>
                      </a:r>
                      <a:endParaRPr lang="ru-RU" sz="1400" b="1" i="1">
                        <a:ln>
                          <a:noFill/>
                        </a:ln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+mn-ea"/>
                      </a:endParaRPr>
                    </a:p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/>
                        <a:buNone/>
                      </a:pPr>
                      <a:r>
                        <a:rPr sz="1400" b="1" i="1">
                          <a:ln>
                            <a:noFill/>
                          </a:ln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Студент гр. </a:t>
                      </a:r>
                      <a:r>
                        <a:rPr lang="ru-RU" sz="1400" b="1" i="1">
                          <a:ln>
                            <a:noFill/>
                          </a:ln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+mn-ea"/>
                        </a:rPr>
                        <a:t>443 Саргсян Серёжа Арсенович</a:t>
                      </a:r>
                      <a:endParaRPr lang="ru-RU" sz="1400" b="1" i="1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T="45660" marB="45660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5034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/>
                        <a:buNone/>
                      </a:pPr>
                      <a:r>
                        <a:rPr sz="14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Руководител</a:t>
                      </a:r>
                      <a:r>
                        <a:rPr lang="ru-RU" sz="1400" b="1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и</a:t>
                      </a:r>
                      <a:endParaRPr lang="ru-RU" sz="1400" b="1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T="45660" marB="45660" horzOverflow="overflow">
                    <a:lnL>
                      <a:noFill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lang="ru-RU" altLang="ru-RU" sz="1400" b="1" i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+mn-ea"/>
                        </a:rPr>
                        <a:t>ст. преп. Козлов Андрей </a:t>
                      </a:r>
                      <a:r>
                        <a:rPr lang="ru-RU" altLang="ru-RU" sz="1400" b="1" i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+mn-ea"/>
                        </a:rPr>
                        <a:t>Васильевич</a:t>
                      </a:r>
                      <a:endParaRPr kumimoji="0" lang="ru-RU" altLang="ru-RU" sz="1400" b="1" i="1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</a:pPr>
                      <a:r>
                        <a:rPr lang="ru-RU" altLang="ru-RU" sz="1400" b="1" i="1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+mn-ea"/>
                        </a:rPr>
                        <a:t>ст. преп.</a:t>
                      </a:r>
                      <a:r>
                        <a:rPr lang="ru-RU" altLang="ru-RU" sz="1400" b="1" i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+mn-ea"/>
                        </a:rPr>
                        <a:t> Иванов Александр Александрович</a:t>
                      </a:r>
                      <a:endParaRPr lang="ru-RU" altLang="ru-RU" sz="1400" b="1" i="1" u="none" cap="none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T="45660" marB="45660" horzOverflow="overflow">
                    <a:lnL w="12700" cmpd="sng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121" name="Picture 108"/>
          <p:cNvPicPr>
            <a:picLocks noChangeAspect="1"/>
          </p:cNvPicPr>
          <p:nvPr/>
        </p:nvPicPr>
        <p:blipFill>
          <a:blip r:embed="rId2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6" name="Google Shape;89;p13"/>
          <p:cNvSpPr>
            <a:spLocks noGrp="1"/>
          </p:cNvSpPr>
          <p:nvPr/>
        </p:nvSpPr>
        <p:spPr>
          <a:xfrm>
            <a:off x="-72231" y="2852737"/>
            <a:ext cx="9144000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 fontScale="94902" lnSpcReduction="10000"/>
          </a:bodyPr>
          <a:lstStyle/>
          <a:p>
            <a:pPr marL="0" marR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«Разработка информационно-поисковой системы ThermoSelect для выбора теплообменных аппаратов»</a:t>
            </a:r>
            <a:endParaRPr sz="20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9144000" cy="34068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Актуальность работы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149" name="Rectangle 2"/>
          <p:cNvSpPr>
            <a:spLocks noGrp="1"/>
          </p:cNvSpPr>
          <p:nvPr/>
        </p:nvSpPr>
        <p:spPr>
          <a:xfrm>
            <a:off x="34925" y="824230"/>
            <a:ext cx="9001760" cy="566229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 algn="l">
              <a:spcAft>
                <a:spcPts val="800"/>
              </a:spcAft>
              <a:buClrTx/>
              <a:buSzTx/>
              <a:buNone/>
            </a:pPr>
            <a:r>
              <a:rPr sz="1900">
                <a:latin typeface="Verdana" panose="020B0604030504040204"/>
                <a:ea typeface="Verdana" panose="020B0604030504040204"/>
                <a:cs typeface="Verdana" panose="020B0604030504040204"/>
              </a:rPr>
              <a:t>• 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Теплообменники применяются в отоплении, HVAC, холодильной технике, энергетике и промышленности.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ClrTx/>
              <a:buSzTx/>
              <a:buNone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ClrTx/>
              <a:buSzTx/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• Каталоги производителей используют разные наборы характеристик и уровни детализации.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ClrTx/>
              <a:buSzTx/>
              <a:buNone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ClrTx/>
              <a:buSzTx/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• Ручное сопоставление моделей занимает время и повышает риск ошибки.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ClrTx/>
              <a:buSzTx/>
              <a:buNone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ClrTx/>
              <a:buSzTx/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• Требуется единая система строгого поиска, сравнения и проверки источников.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ClrTx/>
              <a:buSzTx/>
              <a:buNone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800"/>
              </a:spcAft>
              <a:buClrTx/>
              <a:buSzTx/>
              <a:buNone/>
            </a:pPr>
            <a:r>
              <a:rPr lang="en-US" altLang="en-US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• Международные каталоги включают более 754 производителей и поставщиков различных моделей теплообменных аппаратов, что сильно затрудняет выбор.</a:t>
            </a:r>
            <a:endParaRPr lang="en-US" altLang="en-US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155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6156" name="Picture 108"/>
          <p:cNvPicPr>
            <a:picLocks noChangeAspect="1"/>
          </p:cNvPicPr>
          <p:nvPr/>
        </p:nvPicPr>
        <p:blipFill>
          <a:blip r:embed="rId2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>
            <a:spLocks noGrp="1"/>
          </p:cNvSpPr>
          <p:nvPr/>
        </p:nvSpPr>
        <p:spPr>
          <a:xfrm>
            <a:off x="8213769" y="6321464"/>
            <a:ext cx="90977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2/</a:t>
            </a:r>
            <a:r>
              <a:rPr lang="ru-RU"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19</a:t>
            </a:r>
            <a:endParaRPr lang="ru-RU"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9144000" cy="42703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Цель и задачи работы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149" name="Rectangle 2"/>
          <p:cNvSpPr>
            <a:spLocks noGrp="1"/>
          </p:cNvSpPr>
          <p:nvPr/>
        </p:nvSpPr>
        <p:spPr>
          <a:xfrm>
            <a:off x="0" y="433475"/>
            <a:ext cx="9178925" cy="60547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Цель — разработать web-систему ThermoSelect для первичного выбора теплообменных аппаратов.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Задачи: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1) проанализировать предметную область и официальные каталоги;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2) спроектировать нормализованную базу данных;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3) реализовать авторизацию, каталог, фильтры, карточку и сравнение;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4) создать административные функции и Excel-выгрузку;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5) обеспечить безопасность, тестирование и сборку в один JAR.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156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932" y="0"/>
            <a:ext cx="601663" cy="762000"/>
          </a:xfrm>
          <a:prstGeom prst="rect">
            <a:avLst/>
          </a:prstGeom>
          <a:ln>
            <a:noFill/>
          </a:ln>
        </p:spPr>
      </p:pic>
      <p:pic>
        <p:nvPicPr>
          <p:cNvPr id="6157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6158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2" name="TextBox 11"/>
          <p:cNvSpPr>
            <a:spLocks noGrp="1"/>
          </p:cNvSpPr>
          <p:nvPr/>
        </p:nvSpPr>
        <p:spPr>
          <a:xfrm>
            <a:off x="8213769" y="6321464"/>
            <a:ext cx="90977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3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</a:t>
            </a:r>
            <a:r>
              <a:rPr lang="ru-RU"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19</a:t>
            </a:r>
            <a:endParaRPr lang="ru-RU"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749661" y="508121"/>
            <a:ext cx="7776442" cy="68897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Формализованное описание задачи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27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01663" cy="762000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>
            <a:spLocks noGrp="1"/>
          </p:cNvSpPr>
          <p:nvPr/>
        </p:nvSpPr>
        <p:spPr>
          <a:xfrm>
            <a:off x="4936195" y="2518254"/>
            <a:ext cx="4214155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Verdana" panose="020B0604030504040204"/>
                <a:ea typeface="Verdana" panose="020B0604030504040204"/>
                <a:cs typeface="Verdana" panose="020B0604030504040204"/>
              </a:rPr>
              <a:t>Выходные данные:</a:t>
            </a:r>
            <a:endParaRPr sz="1500"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sz="1500" i="1">
                <a:latin typeface="Verdana" panose="020B0604030504040204"/>
                <a:ea typeface="Verdana" panose="020B0604030504040204"/>
                <a:cs typeface="Verdana" panose="020B0604030504040204"/>
              </a:rPr>
              <a:t>Y = {H₁, H₂, …, Hₙ}</a:t>
            </a:r>
            <a:endParaRPr sz="1500" i="1"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sz="1500">
                <a:latin typeface="Verdana" panose="020B0604030504040204"/>
                <a:ea typeface="Verdana" panose="020B0604030504040204"/>
                <a:cs typeface="Verdana" panose="020B0604030504040204"/>
              </a:rPr>
              <a:t>Y — упорядоченный список опубликованных аппаратов, которые проходят все строгие ограничения.</a:t>
            </a:r>
            <a:endParaRPr sz="1500"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lang="en-US" sz="1500">
                <a:latin typeface="Verdana" panose="020B0604030504040204"/>
                <a:ea typeface="Verdana" panose="020B0604030504040204"/>
                <a:cs typeface="Verdana" panose="020B0604030504040204"/>
              </a:rPr>
              <a:t>H - </a:t>
            </a:r>
            <a:r>
              <a:rPr lang="ru-RU" sz="1500">
                <a:latin typeface="Verdana" panose="020B0604030504040204"/>
                <a:ea typeface="Verdana" panose="020B0604030504040204"/>
                <a:cs typeface="Verdana" panose="020B0604030504040204"/>
              </a:rPr>
              <a:t>полученные аппараты.</a:t>
            </a:r>
            <a:endParaRPr lang="ru-RU" sz="1500"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29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30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21" name="TextBox 20"/>
          <p:cNvSpPr>
            <a:spLocks noGrp="1"/>
          </p:cNvSpPr>
          <p:nvPr/>
        </p:nvSpPr>
        <p:spPr>
          <a:xfrm>
            <a:off x="8213769" y="6321464"/>
            <a:ext cx="90977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4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</a:t>
            </a:r>
            <a:r>
              <a:rPr lang="ru-RU"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19</a:t>
            </a:r>
            <a:endParaRPr lang="ru-RU"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07504" y="5022899"/>
            <a:ext cx="8875072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Verdana" panose="020B0604030504040204"/>
                <a:ea typeface="Verdana" panose="020B0604030504040204"/>
                <a:cs typeface="Verdana" panose="020B0604030504040204"/>
              </a:rPr>
              <a:t>Неизвестное обязательное значение исключает запись. После строгой фильтрации активные критерии нормализуются и формируют устойчивый порядок результатов.</a:t>
            </a:r>
            <a:endParaRPr sz="1500"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107503" y="2518254"/>
            <a:ext cx="482869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Verdana" panose="020B0604030504040204"/>
                <a:ea typeface="Verdana" panose="020B0604030504040204"/>
                <a:cs typeface="Verdana" panose="020B0604030504040204"/>
              </a:rPr>
              <a:t>Входные переменные:</a:t>
            </a:r>
            <a:endParaRPr sz="1500"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sz="1500" i="1">
                <a:latin typeface="Verdana" panose="020B0604030504040204"/>
                <a:ea typeface="Verdana" panose="020B0604030504040204"/>
                <a:cs typeface="Verdana" panose="020B0604030504040204"/>
              </a:rPr>
              <a:t>X = {q, f, m, a, t, p, g, s}</a:t>
            </a:r>
            <a:endParaRPr sz="1500" i="1"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sz="1500" i="1">
                <a:latin typeface="Verdana" panose="020B0604030504040204"/>
                <a:ea typeface="Verdana" panose="020B0604030504040204"/>
                <a:cs typeface="Verdana" panose="020B0604030504040204"/>
              </a:rPr>
              <a:t>q — строка поиска;</a:t>
            </a:r>
            <a:endParaRPr sz="1500" i="1"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sz="1500" i="1">
                <a:latin typeface="Verdana" panose="020B0604030504040204"/>
                <a:ea typeface="Verdana" panose="020B0604030504040204"/>
                <a:cs typeface="Verdana" panose="020B0604030504040204"/>
              </a:rPr>
              <a:t>f — семейство;</a:t>
            </a:r>
            <a:endParaRPr sz="1500" i="1"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sz="1500" i="1">
                <a:latin typeface="Verdana" panose="020B0604030504040204"/>
                <a:ea typeface="Verdana" panose="020B0604030504040204"/>
                <a:cs typeface="Verdana" panose="020B0604030504040204"/>
              </a:rPr>
              <a:t>m — производитель;</a:t>
            </a:r>
            <a:endParaRPr sz="1500" i="1"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sz="1500" i="1">
                <a:latin typeface="Verdana" panose="020B0604030504040204"/>
                <a:ea typeface="Verdana" panose="020B0604030504040204"/>
                <a:cs typeface="Verdana" panose="020B0604030504040204"/>
              </a:rPr>
              <a:t>a — область применения;</a:t>
            </a:r>
            <a:endParaRPr sz="1500" i="1"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sz="1500">
                <a:latin typeface="Verdana" panose="020B0604030504040204"/>
                <a:ea typeface="Verdana" panose="020B0604030504040204"/>
                <a:cs typeface="Verdana" panose="020B0604030504040204"/>
              </a:rPr>
              <a:t>t, p, g, s — требования по температуре, давлению, расходу и площади.</a:t>
            </a:r>
            <a:endParaRPr sz="1500"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3" name="Изображение 2" descr="image (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0" y="1295400"/>
            <a:ext cx="7171055" cy="11893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2"/>
          <p:cNvSpPr>
            <a:spLocks noGrp="1"/>
          </p:cNvSpPr>
          <p:nvPr/>
        </p:nvSpPr>
        <p:spPr>
          <a:xfrm>
            <a:off x="528637" y="6643727"/>
            <a:ext cx="7920038" cy="211098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3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01663" cy="762000"/>
          </a:xfrm>
          <a:prstGeom prst="rect">
            <a:avLst/>
          </a:prstGeom>
          <a:ln>
            <a:noFill/>
          </a:ln>
        </p:spPr>
      </p:pic>
      <p:sp>
        <p:nvSpPr>
          <p:cNvPr id="2" name="Rectangle 2"/>
          <p:cNvSpPr>
            <a:spLocks noGrp="1"/>
          </p:cNvSpPr>
          <p:nvPr/>
        </p:nvSpPr>
        <p:spPr>
          <a:xfrm>
            <a:off x="683568" y="0"/>
            <a:ext cx="7990532" cy="762000"/>
          </a:xfrm>
          <a:prstGeom prst="rect">
            <a:avLst/>
          </a:prstGeom>
        </p:spPr>
        <p:txBody>
          <a:bodyPr anchor="ctr">
            <a:normAutofit fontScale="78571" lnSpcReduction="20000"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8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Функциональная структура программного комплекса</a:t>
            </a:r>
            <a:endParaRPr sz="28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25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26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>
            <a:spLocks noGrp="1"/>
          </p:cNvSpPr>
          <p:nvPr/>
        </p:nvSpPr>
        <p:spPr>
          <a:xfrm>
            <a:off x="8213769" y="6321464"/>
            <a:ext cx="90977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5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</a:t>
            </a:r>
            <a:r>
              <a:rPr lang="ru-RU"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19</a:t>
            </a:r>
            <a:endParaRPr lang="ru-RU"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 flipV="1">
            <a:off x="3265700" y="-236531"/>
            <a:ext cx="8073800" cy="46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/>
          <a:p/>
        </p:txBody>
      </p:sp>
      <p:pic>
        <p:nvPicPr>
          <p:cNvPr id="4" name="Изображение 3" descr="Рисунок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0525" y="756285"/>
            <a:ext cx="6061710" cy="5565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608013" y="0"/>
            <a:ext cx="8015385" cy="449262"/>
          </a:xfrm>
          <a:prstGeom prst="rect">
            <a:avLst/>
          </a:prstGeom>
        </p:spPr>
        <p:txBody>
          <a:bodyPr anchor="ctr">
            <a:normAutofit fontScale="83854" lnSpcReduction="10000"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8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Блок-схема алгоритма подбора</a:t>
            </a:r>
            <a:endParaRPr sz="28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24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01663" cy="762000"/>
          </a:xfrm>
          <a:prstGeom prst="rect">
            <a:avLst/>
          </a:prstGeom>
          <a:ln>
            <a:noFill/>
          </a:ln>
        </p:spPr>
      </p:pic>
      <p:pic>
        <p:nvPicPr>
          <p:cNvPr id="25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26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>
            <a:spLocks noGrp="1"/>
          </p:cNvSpPr>
          <p:nvPr/>
        </p:nvSpPr>
        <p:spPr>
          <a:xfrm>
            <a:off x="8213769" y="6321464"/>
            <a:ext cx="90977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6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</a:t>
            </a:r>
            <a:r>
              <a:rPr lang="ru-RU"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19</a:t>
            </a:r>
            <a:endParaRPr lang="ru-RU"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3" name="Изображение 2" descr="Поиск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3420" y="566420"/>
            <a:ext cx="2676525" cy="5724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6762" y="22523"/>
            <a:ext cx="7765678" cy="739477"/>
          </a:xfrm>
        </p:spPr>
        <p:txBody>
          <a:bodyPr>
            <a:normAutofit fontScale="92791"/>
          </a:bodyPr>
          <a:lstStyle/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UML-диаграмма вариантов использования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4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968" y="0"/>
            <a:ext cx="601663" cy="762000"/>
          </a:xfrm>
          <a:prstGeom prst="rect">
            <a:avLst/>
          </a:prstGeom>
          <a:ln>
            <a:noFill/>
          </a:ln>
        </p:spPr>
      </p:pic>
      <p:pic>
        <p:nvPicPr>
          <p:cNvPr id="25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26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7" name="TextBox 16"/>
          <p:cNvSpPr>
            <a:spLocks noGrp="1"/>
          </p:cNvSpPr>
          <p:nvPr/>
        </p:nvSpPr>
        <p:spPr>
          <a:xfrm>
            <a:off x="8213769" y="6321464"/>
            <a:ext cx="90977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7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</a:t>
            </a:r>
            <a:r>
              <a:rPr lang="ru-RU"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19</a:t>
            </a:r>
            <a:endParaRPr lang="ru-RU"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744190" y="98072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/>
        </p:txBody>
      </p:sp>
      <p:sp>
        <p:nvSpPr>
          <p:cNvPr id="6" name="Rectangle 4"/>
          <p:cNvSpPr>
            <a:spLocks noGrp="1"/>
          </p:cNvSpPr>
          <p:nvPr/>
        </p:nvSpPr>
        <p:spPr>
          <a:xfrm>
            <a:off x="683766" y="350142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/>
        </p:txBody>
      </p:sp>
      <p:pic>
        <p:nvPicPr>
          <p:cNvPr id="28" name="Изображение 27" descr="человечки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685" y="621030"/>
            <a:ext cx="4545330" cy="5798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750" y="-100012"/>
            <a:ext cx="8229600" cy="1143000"/>
          </a:xfrm>
        </p:spPr>
        <p:txBody>
          <a:bodyPr/>
          <a:lstStyle/>
          <a:p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Концептуальная модель базы данных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7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" y="0"/>
            <a:ext cx="502012" cy="635793"/>
          </a:xfrm>
          <a:prstGeom prst="rect">
            <a:avLst/>
          </a:prstGeom>
          <a:ln>
            <a:noFill/>
          </a:ln>
        </p:spPr>
      </p:pic>
      <p:pic>
        <p:nvPicPr>
          <p:cNvPr id="28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29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20" name="TextBox 19"/>
          <p:cNvSpPr>
            <a:spLocks noGrp="1"/>
          </p:cNvSpPr>
          <p:nvPr/>
        </p:nvSpPr>
        <p:spPr>
          <a:xfrm>
            <a:off x="8213769" y="6321464"/>
            <a:ext cx="90977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8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</a:t>
            </a:r>
            <a:r>
              <a:rPr lang="ru-RU"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19</a:t>
            </a:r>
            <a:endParaRPr lang="ru-RU"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4" name="Изображение 3" descr="Теплообменник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05" y="682625"/>
            <a:ext cx="7313930" cy="54565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6437"/>
            <a:ext cx="8229600" cy="771141"/>
          </a:xfrm>
        </p:spPr>
        <p:txBody>
          <a:bodyPr/>
          <a:lstStyle/>
          <a:p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Даталогическая модель базы данных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5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" y="0"/>
            <a:ext cx="502012" cy="635793"/>
          </a:xfrm>
          <a:prstGeom prst="rect">
            <a:avLst/>
          </a:prstGeom>
          <a:ln>
            <a:noFill/>
          </a:ln>
        </p:spPr>
      </p:pic>
      <p:pic>
        <p:nvPicPr>
          <p:cNvPr id="26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27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8" name="TextBox 17"/>
          <p:cNvSpPr>
            <a:spLocks noGrp="1"/>
          </p:cNvSpPr>
          <p:nvPr/>
        </p:nvSpPr>
        <p:spPr>
          <a:xfrm>
            <a:off x="8213769" y="6321464"/>
            <a:ext cx="90977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9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</a:t>
            </a:r>
            <a:r>
              <a:rPr lang="ru-RU"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19</a:t>
            </a:r>
            <a:endParaRPr lang="ru-RU"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4"/>
          <a:srcRect t="2375"/>
          <a:stretch>
            <a:fillRect/>
          </a:stretch>
        </p:blipFill>
        <p:spPr>
          <a:xfrm>
            <a:off x="783590" y="791845"/>
            <a:ext cx="8105140" cy="5039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47625" y="-50800"/>
            <a:ext cx="9144000" cy="88751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Сравнение реляционных СУБД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21" name="Рисунок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9049"/>
            <a:ext cx="523875" cy="676275"/>
          </a:xfrm>
          <a:prstGeom prst="rect">
            <a:avLst/>
          </a:prstGeom>
          <a:ln>
            <a:noFill/>
          </a:ln>
        </p:spPr>
      </p:pic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293527" y="5542985"/>
            <a:ext cx="8412483" cy="822116"/>
          </a:xfrm>
        </p:spPr>
        <p:txBody>
          <a:bodyPr/>
          <a:lstStyle/>
          <a:p>
            <a:pPr>
              <a:buNone/>
            </a:pPr>
            <a:r>
              <a:rPr sz="1500">
                <a:latin typeface="Verdana" panose="020B0604030504040204"/>
                <a:ea typeface="Verdana" panose="020B0604030504040204"/>
                <a:cs typeface="Verdana" panose="020B0604030504040204"/>
              </a:rPr>
              <a:t>PostgreSQL выбрана за ограничения целостности, MVCC и предсказуемую транзакционную модель. </a:t>
            </a:r>
            <a:r>
              <a:rPr lang="ru-RU" sz="1500">
                <a:latin typeface="Verdana" panose="020B0604030504040204"/>
                <a:ea typeface="Verdana" panose="020B0604030504040204"/>
                <a:cs typeface="Verdana" panose="020B0604030504040204"/>
              </a:rPr>
              <a:t>субд </a:t>
            </a:r>
            <a:r>
              <a:rPr sz="1500">
                <a:latin typeface="Verdana" panose="020B0604030504040204"/>
                <a:ea typeface="Verdana" panose="020B0604030504040204"/>
                <a:cs typeface="Verdana" panose="020B0604030504040204"/>
              </a:rPr>
              <a:t>H2 используется только для тестов и локального запуска.</a:t>
            </a:r>
            <a:endParaRPr sz="1500"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11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4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25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5" name="TextBox 14"/>
          <p:cNvSpPr>
            <a:spLocks noGrp="1"/>
          </p:cNvSpPr>
          <p:nvPr/>
        </p:nvSpPr>
        <p:spPr>
          <a:xfrm>
            <a:off x="8100393" y="6321464"/>
            <a:ext cx="10231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10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</a:t>
            </a:r>
            <a:r>
              <a:rPr lang="ru-RU"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19</a:t>
            </a:r>
            <a:endParaRPr lang="ru-RU"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graphicFrame>
        <p:nvGraphicFramePr>
          <p:cNvPr id="27" name="Таблица 2"/>
          <p:cNvGraphicFramePr/>
          <p:nvPr/>
        </p:nvGraphicFramePr>
        <p:xfrm>
          <a:off x="503300" y="1085057"/>
          <a:ext cx="8232650" cy="459267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18729"/>
                <a:gridCol w="3247249"/>
                <a:gridCol w="2866672"/>
              </a:tblGrid>
              <a:tr h="3089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600" b="1"/>
                        <a:t>СУБД</a:t>
                      </a:r>
                      <a:endParaRPr sz="1600" b="1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600" b="1"/>
                        <a:t>Преимущества</a:t>
                      </a:r>
                      <a:endParaRPr sz="1600" b="1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600" b="1"/>
                        <a:t>Вывод</a:t>
                      </a:r>
                      <a:endParaRPr sz="1600" b="1"/>
                    </a:p>
                  </a:txBody>
                  <a:tcPr marL="68580" marR="68580" marT="0" marB="0"/>
                </a:tc>
              </a:tr>
              <a:tr h="13465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PostgreSQL</a:t>
                      </a:r>
                      <a:endParaRPr sz="140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MVCC, ограничения, транзакции, зрелая Java-интеграция</a:t>
                      </a:r>
                      <a:endParaRPr sz="140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Выбрана для эксплуатации</a:t>
                      </a:r>
                      <a:endParaRPr sz="1400"/>
                    </a:p>
                  </a:txBody>
                  <a:tcPr marL="68580" marR="68580" marT="0" marB="0"/>
                </a:tc>
              </a:tr>
              <a:tr h="13465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MySQL</a:t>
                      </a:r>
                      <a:endParaRPr sz="140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Высокая распространённость, InnoDB, удобное администрирование</a:t>
                      </a:r>
                      <a:endParaRPr sz="140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Допустимая альтернатива</a:t>
                      </a:r>
                      <a:endParaRPr sz="1400"/>
                    </a:p>
                  </a:txBody>
                  <a:tcPr marL="68580" marR="68580" marT="0" marB="0"/>
                </a:tc>
              </a:tr>
              <a:tr h="100069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SQLite</a:t>
                      </a:r>
                      <a:endParaRPr sz="140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Минимальная установка, один файл</a:t>
                      </a:r>
                      <a:endParaRPr sz="140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/>
                        <a:t>Не для многопользовательского сервера</a:t>
                      </a:r>
                      <a:endParaRPr sz="1400"/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47625" y="-50800"/>
            <a:ext cx="9144000" cy="88751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Сравнение технологических стеков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21" name="Рисунок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9049"/>
            <a:ext cx="523875" cy="676275"/>
          </a:xfrm>
          <a:prstGeom prst="rect">
            <a:avLst/>
          </a:prstGeom>
          <a:ln>
            <a:noFill/>
          </a:ln>
        </p:spPr>
      </p:pic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293527" y="5542985"/>
            <a:ext cx="8412483" cy="822116"/>
          </a:xfrm>
        </p:spPr>
        <p:txBody>
          <a:bodyPr/>
          <a:lstStyle/>
          <a:p>
            <a:pPr>
              <a:buNone/>
            </a:pPr>
            <a:r>
              <a:rPr sz="1500">
                <a:latin typeface="Verdana" panose="020B0604030504040204"/>
                <a:ea typeface="Verdana" panose="020B0604030504040204"/>
                <a:cs typeface="Verdana" panose="020B0604030504040204"/>
              </a:rPr>
              <a:t>React + Spring Boot выбраны за компонентный UI, типизированную серверную модель, Spring Security, интеграционные тесты и поставку в одном исполняемом JAR.</a:t>
            </a:r>
            <a:endParaRPr sz="1500"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11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4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25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5" name="TextBox 14"/>
          <p:cNvSpPr>
            <a:spLocks noGrp="1"/>
          </p:cNvSpPr>
          <p:nvPr/>
        </p:nvSpPr>
        <p:spPr>
          <a:xfrm>
            <a:off x="8100393" y="6321464"/>
            <a:ext cx="10231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lang="ru-RU"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</a:t>
            </a:r>
            <a:r>
              <a:rPr lang="ru-RU"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19</a:t>
            </a:r>
            <a:endParaRPr lang="ru-RU"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graphicFrame>
        <p:nvGraphicFramePr>
          <p:cNvPr id="27" name="Таблица 3"/>
          <p:cNvGraphicFramePr/>
          <p:nvPr/>
        </p:nvGraphicFramePr>
        <p:xfrm>
          <a:off x="395536" y="1196752"/>
          <a:ext cx="8496944" cy="392324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832315"/>
                <a:gridCol w="2963246"/>
                <a:gridCol w="2701383"/>
              </a:tblGrid>
              <a:tr h="3669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Вариант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Сильные стороны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Ограничения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</a:tr>
              <a:tr h="77618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React + Spring Boot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Экосистема, Security, JPA, Maven/JAR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Требуются знания </a:t>
                      </a:r>
                      <a:r>
                        <a:rPr lang="en-US" altLang="ru-RU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Java </a:t>
                      </a:r>
                      <a:r>
                        <a:rPr lang="en-US" altLang="en-US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и </a:t>
                      </a:r>
                      <a:r>
                        <a:rPr lang="en-US" altLang="ru-RU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JavaScript</a:t>
                      </a:r>
                      <a:r>
                        <a:rPr lang="ru-RU" altLang="en-US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, н</a:t>
                      </a:r>
                      <a:r>
                        <a:rPr lang="en-US" altLang="en-US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астройка </a:t>
                      </a:r>
                      <a:r>
                        <a:rPr lang="en-US" altLang="ru-RU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CORS </a:t>
                      </a:r>
                      <a:r>
                        <a:rPr lang="en-US" altLang="en-US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и проксирования</a:t>
                      </a:r>
                      <a:endParaRPr lang="en-US" altLang="en-US"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</a:tr>
              <a:tr h="15946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Vue + NestJS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Низкий порог входа, единый TypeScript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Отдельная Node.js-поставка</a:t>
                      </a:r>
                      <a:r>
                        <a:rPr lang="ru-RU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, с</a:t>
                      </a:r>
                      <a:r>
                        <a:rPr lang="en-US" altLang="en-US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ложности с интеграционными тестами</a:t>
                      </a:r>
                      <a:endParaRPr lang="en-US" altLang="en-US"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</a:tr>
              <a:tr h="118543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Angular + ASP.NET Core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Строгая структура, зрелый сервер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Обучение занимает больше времени</a:t>
                      </a:r>
                      <a:r>
                        <a:rPr lang="ru-RU" altLang="en-US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, с</a:t>
                      </a:r>
                      <a:r>
                        <a:rPr lang="en-US" altLang="en-US"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ложная настройка окружения</a:t>
                      </a:r>
                      <a:endParaRPr lang="en-US" altLang="en-US"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Замещающее содержимое 5" descr="Рисунок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63620" y="1254760"/>
            <a:ext cx="2267585" cy="4871720"/>
          </a:xfrm>
          <a:prstGeom prst="rect">
            <a:avLst/>
          </a:prstGeom>
        </p:spPr>
      </p:pic>
      <p:sp>
        <p:nvSpPr>
          <p:cNvPr id="4" name="Замещающий 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11DFABB-070A-4FA0-ABAA-304D2DD234B5}" type="slidenum">
              <a:rPr/>
            </a:fld>
            <a:endParaRPr/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>
          <a:xfrm>
            <a:off x="251520" y="0"/>
            <a:ext cx="8892480" cy="1052513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sz="26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Структура программного обеспечения</a:t>
            </a:r>
            <a:endParaRPr lang="ru-RU" sz="2600" b="1" dirty="0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-20320" y="37973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24580" name="Рисунок 7" descr="zna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238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0" descr="zna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175"/>
            <a:ext cx="82073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08" descr="Логотип_САПРиУ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8448675" y="-6437"/>
            <a:ext cx="70167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Рисунок 2" descr="int_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2" y="6222257"/>
            <a:ext cx="909779" cy="62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8100393" y="6321464"/>
            <a:ext cx="10231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en-US" b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/>
                <a:sym typeface="Arial" panose="020B0604020202020204"/>
              </a:rPr>
              <a:t>1</a:t>
            </a:r>
            <a:r>
              <a:rPr lang="ru-RU" altLang="en-US" b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/>
                <a:sym typeface="Arial" panose="020B0604020202020204"/>
              </a:rPr>
              <a:t>2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/>
                <a:sym typeface="Arial" panose="020B0604020202020204"/>
              </a:rPr>
              <a:t>/</a:t>
            </a:r>
            <a:r>
              <a:rPr lang="ru-RU" altLang="en-US" sz="1800" b="1" i="0" u="none" strike="noStrike" cap="none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/>
                <a:sym typeface="Arial" panose="020B0604020202020204"/>
              </a:rPr>
              <a:t>19</a:t>
            </a:r>
            <a:endParaRPr lang="ru-RU" altLang="en-US" sz="1800" b="1" i="0" u="none" strike="noStrike" cap="none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179512" y="10270"/>
            <a:ext cx="8658101" cy="1039813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Характеристика программного обеспечения</a:t>
            </a:r>
            <a:endParaRPr sz="2600" b="1">
              <a:solidFill>
                <a:srgbClr val="00B05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17411" name="Rectangle 2"/>
          <p:cNvSpPr>
            <a:spLocks noGrp="1"/>
          </p:cNvSpPr>
          <p:nvPr/>
        </p:nvSpPr>
        <p:spPr>
          <a:xfrm>
            <a:off x="0" y="1916113"/>
            <a:ext cx="9144000" cy="2232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</a:p>
        </p:txBody>
      </p:sp>
      <p:pic>
        <p:nvPicPr>
          <p:cNvPr id="17419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01662" cy="762000"/>
          </a:xfrm>
          <a:prstGeom prst="rect">
            <a:avLst/>
          </a:prstGeom>
          <a:ln>
            <a:noFill/>
          </a:ln>
        </p:spPr>
      </p:pic>
      <p:sp>
        <p:nvSpPr>
          <p:cNvPr id="10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7421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17422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>
            <a:spLocks noGrp="1"/>
          </p:cNvSpPr>
          <p:nvPr/>
        </p:nvSpPr>
        <p:spPr>
          <a:xfrm>
            <a:off x="8100393" y="6321464"/>
            <a:ext cx="10231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lang="ru-RU"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3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</a:t>
            </a:r>
            <a:r>
              <a:rPr lang="ru-RU"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19</a:t>
            </a:r>
            <a:endParaRPr lang="ru-RU"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601037" y="1143063"/>
          <a:ext cx="8075613" cy="4805198"/>
        </p:xfrm>
        <a:graphic>
          <a:graphicData uri="http://schemas.openxmlformats.org/drawingml/2006/table">
            <a:tbl>
              <a:tblPr/>
              <a:tblGrid>
                <a:gridCol w="4320540"/>
                <a:gridCol w="3755073"/>
              </a:tblGrid>
              <a:tr h="2422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Показатель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Значение</a:t>
                      </a:r>
                      <a:endParaRPr kumimoji="0" lang="ru-RU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4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Технология программирования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Объектно-ориентированное программирование</a:t>
                      </a:r>
                      <a:endParaRPr kumimoji="0" lang="ru-RU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Среда разработки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Intellij IDEA, VS code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Язык программирования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Java, Javascript</a:t>
                      </a:r>
                      <a:endParaRPr kumimoji="0" lang="en-US" alt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Количество классов, структур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35</a:t>
                      </a:r>
                      <a:endParaRPr kumimoji="0" lang="ru-RU" alt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Количество функций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72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Модель описания данных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Реляционная модель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СУБД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PostgreSQL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Количество таблиц в базе данных</a:t>
                      </a:r>
                      <a:endParaRPr kumimoji="0" lang="ru-RU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Количество полей в базе данных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18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50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Тип данных в базе данных </a:t>
                      </a:r>
                      <a:endParaRPr kumimoji="0" lang="ru-RU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Int , 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nvarchar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date, 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smallint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, decima(8, 3), bigint, numeric, text, boolean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4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Тип связей между таблицами в базе данных</a:t>
                      </a:r>
                      <a:endParaRPr kumimoji="0" lang="ru-RU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Один-ко-многим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Текущий объем базы данных, Мб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Максимальный объем базы данных, Тб </a:t>
                      </a:r>
                      <a:endParaRPr kumimoji="0" lang="ru-RU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35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4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Средства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обеспечения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защиты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информации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Авторизация пользователей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Размер исполняемого файла, Мб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3.2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0" y="-6437"/>
            <a:ext cx="9144000" cy="457200"/>
          </a:xfrm>
          <a:prstGeom prst="rect">
            <a:avLst/>
          </a:prstGeom>
        </p:spPr>
        <p:txBody>
          <a:bodyPr anchor="ctr">
            <a:normAutofit fontScale="92308" lnSpcReduction="10000"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Минимальные системные требования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31747" name="Rectangle 7"/>
          <p:cNvSpPr>
            <a:spLocks noGrp="1"/>
          </p:cNvSpPr>
          <p:nvPr/>
        </p:nvSpPr>
        <p:spPr>
          <a:xfrm>
            <a:off x="1514475" y="2195513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br>
              <a:rPr sz="14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endParaRPr sz="1400" b="1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>
              <a:spcBef>
                <a:spcPct val="0"/>
              </a:spcBef>
              <a:buFontTx/>
              <a:buNone/>
            </a:pPr>
          </a:p>
        </p:txBody>
      </p:sp>
      <p:pic>
        <p:nvPicPr>
          <p:cNvPr id="31754" name="Рисунок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523875" cy="676275"/>
          </a:xfrm>
          <a:prstGeom prst="rect">
            <a:avLst/>
          </a:prstGeom>
          <a:ln>
            <a:noFill/>
          </a:ln>
        </p:spPr>
      </p:pic>
      <p:graphicFrame>
        <p:nvGraphicFramePr>
          <p:cNvPr id="31755" name="Таблица 2"/>
          <p:cNvGraphicFramePr/>
          <p:nvPr/>
        </p:nvGraphicFramePr>
        <p:xfrm>
          <a:off x="822325" y="1628775"/>
          <a:ext cx="7040564" cy="28006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0282"/>
                <a:gridCol w="3520282"/>
              </a:tblGrid>
              <a:tr h="2774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Показатель</a:t>
                      </a:r>
                      <a:endParaRPr sz="1400" b="1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Значение</a:t>
                      </a:r>
                      <a:endParaRPr sz="1400" b="1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548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Процессор</a:t>
                      </a:r>
                      <a:endParaRPr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x86-64, 2 ядра</a:t>
                      </a:r>
                      <a:endParaRPr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74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Оперативная память</a:t>
                      </a:r>
                      <a:endParaRPr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4 Г</a:t>
                      </a:r>
                      <a:r>
                        <a:rPr lang="ru-RU"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б</a:t>
                      </a:r>
                      <a:endParaRPr lang="ru-RU"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74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Диск</a:t>
                      </a:r>
                      <a:endParaRPr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67 Мб</a:t>
                      </a:r>
                      <a:endParaRPr lang="ru-RU"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856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Операционная система</a:t>
                      </a:r>
                      <a:endParaRPr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Windows 1</a:t>
                      </a:r>
                      <a:r>
                        <a:rPr lang="ru-RU"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0</a:t>
                      </a:r>
                      <a:r>
                        <a:rPr lang="en-US" altLang="ru-RU"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 </a:t>
                      </a:r>
                      <a:r>
                        <a:rPr lang="ru-RU" altLang="ru-RU"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и выше</a:t>
                      </a:r>
                      <a:endParaRPr lang="ru-RU" altLang="ru-RU"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74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Среда выполнения</a:t>
                      </a:r>
                      <a:endParaRPr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Java 25</a:t>
                      </a:r>
                      <a:endParaRPr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504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Клиент</a:t>
                      </a:r>
                      <a:endParaRPr sz="1400" b="0"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Современный браузер с JavaScript</a:t>
                      </a:r>
                      <a:endParaRPr sz="1400" b="0" i="0" u="non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5" marR="68585" marT="0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31757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31758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5" name="TextBox 14"/>
          <p:cNvSpPr>
            <a:spLocks noGrp="1"/>
          </p:cNvSpPr>
          <p:nvPr/>
        </p:nvSpPr>
        <p:spPr>
          <a:xfrm>
            <a:off x="8100393" y="6321464"/>
            <a:ext cx="10231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lang="ru-RU"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4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</a:t>
            </a:r>
            <a:r>
              <a:rPr lang="ru-RU"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19</a:t>
            </a:r>
            <a:endParaRPr lang="ru-RU"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>
            <a:spLocks noGrp="1"/>
          </p:cNvSpPr>
          <p:nvPr/>
        </p:nvSpPr>
        <p:spPr>
          <a:xfrm>
            <a:off x="683568" y="-6437"/>
            <a:ext cx="7765107" cy="411101"/>
          </a:xfrm>
          <a:prstGeom prst="rect">
            <a:avLst/>
          </a:prstGeom>
        </p:spPr>
        <p:txBody>
          <a:bodyPr anchor="ctr">
            <a:normAutofit fontScale="80453" lnSpcReduction="20000"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Пользовательский сценарий: каталог и карточка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18" name="Рисунок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523875" cy="676275"/>
          </a:xfrm>
          <a:prstGeom prst="rect">
            <a:avLst/>
          </a:prstGeom>
          <a:ln>
            <a:noFill/>
          </a:ln>
        </p:spPr>
      </p:pic>
      <p:sp>
        <p:nvSpPr>
          <p:cNvPr id="6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0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21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>
            <a:spLocks noGrp="1"/>
          </p:cNvSpPr>
          <p:nvPr/>
        </p:nvSpPr>
        <p:spPr>
          <a:xfrm>
            <a:off x="8092672" y="6350327"/>
            <a:ext cx="10231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lang="ru-RU"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5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</a:t>
            </a:r>
            <a:r>
              <a:rPr lang="ru-RU"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19</a:t>
            </a:r>
            <a:endParaRPr lang="ru-RU"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graphicFrame>
        <p:nvGraphicFramePr>
          <p:cNvPr id="23" name="Таблица 18"/>
          <p:cNvGraphicFramePr/>
          <p:nvPr/>
        </p:nvGraphicFramePr>
        <p:xfrm>
          <a:off x="855980" y="552450"/>
          <a:ext cx="7563485" cy="27527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49015"/>
                <a:gridCol w="4014470"/>
              </a:tblGrid>
              <a:tr h="166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Критерий</a:t>
                      </a:r>
                      <a:endParaRPr sz="1200" b="1"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3493" marR="63493" marT="9519" marB="0" anchor="ctr" horzOverflow="overflow"/>
                </a:tc>
                <a:tc>
                  <a:txBody>
                    <a:bodyPr/>
                    <a:lstStyle/>
                    <a:p>
                      <a:pPr marL="0" marR="0" indent="17780" algn="ctr" defTabSz="91440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1" u="none" cap="none">
                          <a:ln>
                            <a:noFill/>
                          </a:ln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Пример значения</a:t>
                      </a:r>
                      <a:endParaRPr sz="1200" b="1" u="none" cap="none">
                        <a:ln>
                          <a:noFill/>
                        </a:ln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3493" marR="63493" marT="9519" marB="0" anchor="ctr" horzOverflow="overflow"/>
                </a:tc>
              </a:tr>
              <a:tr h="159782">
                <a:tc>
                  <a:txBody>
                    <a:bodyPr/>
                    <a:lstStyle/>
                    <a:p>
                      <a:pPr marL="0" marR="0" indent="450215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Семейство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Пластинчатый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  <a:tr h="159782">
                <a:tc>
                  <a:txBody>
                    <a:bodyPr/>
                    <a:lstStyle/>
                    <a:p>
                      <a:pPr marL="0" marR="0" indent="450215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Производитель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Alfa Laval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  <a:tr h="159782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Применение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Отопление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  <a:tr h="178839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Материал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Нержавеющая сталь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  <a:tr h="159782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Давление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Не менее 10 bar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  <a:tr h="159782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Температура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До 180 °C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  <a:tr h="159782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Результат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Карточки с источниками и Excel-выгрузкой</a:t>
                      </a:r>
                      <a:endParaRPr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4"/>
          <a:srcRect l="8468" r="9643"/>
          <a:stretch>
            <a:fillRect/>
          </a:stretch>
        </p:blipFill>
        <p:spPr>
          <a:xfrm>
            <a:off x="2141855" y="3547110"/>
            <a:ext cx="4860925" cy="2815590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865" y="3140710"/>
            <a:ext cx="74676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>
            <a:spLocks noGrp="1"/>
          </p:cNvSpPr>
          <p:nvPr/>
        </p:nvSpPr>
        <p:spPr>
          <a:xfrm>
            <a:off x="683568" y="-6437"/>
            <a:ext cx="7765107" cy="411101"/>
          </a:xfrm>
          <a:prstGeom prst="rect">
            <a:avLst/>
          </a:prstGeom>
        </p:spPr>
        <p:txBody>
          <a:bodyPr anchor="ctr">
            <a:normAutofit fontScale="80674" lnSpcReduction="20000"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Администрирование каталога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16" name="Рисунок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523875" cy="676275"/>
          </a:xfrm>
          <a:prstGeom prst="rect">
            <a:avLst/>
          </a:prstGeom>
          <a:ln>
            <a:noFill/>
          </a:ln>
        </p:spPr>
      </p:pic>
      <p:sp>
        <p:nvSpPr>
          <p:cNvPr id="6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8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19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>
            <a:spLocks noGrp="1"/>
          </p:cNvSpPr>
          <p:nvPr/>
        </p:nvSpPr>
        <p:spPr>
          <a:xfrm>
            <a:off x="8092672" y="6350327"/>
            <a:ext cx="10231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lang="ru-RU"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6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</a:t>
            </a:r>
            <a:r>
              <a:rPr lang="ru-RU"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19</a:t>
            </a:r>
            <a:endParaRPr lang="ru-RU"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2278534" y="5733256"/>
            <a:ext cx="457517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Публикация, редактирование и архивирование записей</a:t>
            </a:r>
            <a:endParaRPr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22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36" y="1114493"/>
            <a:ext cx="7335066" cy="45844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827088" y="0"/>
            <a:ext cx="7777360" cy="869019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Тестирование</a:t>
            </a:r>
            <a:r>
              <a:rPr lang="ru-RU"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 системы</a:t>
            </a: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 и Excel-выгрузка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5" name="Rectangle 15"/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/>
        </p:txBody>
      </p:sp>
      <p:pic>
        <p:nvPicPr>
          <p:cNvPr id="46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47" name="Picture 108"/>
          <p:cNvPicPr>
            <a:picLocks noChangeAspect="1"/>
          </p:cNvPicPr>
          <p:nvPr/>
        </p:nvPicPr>
        <p:blipFill>
          <a:blip r:embed="rId2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36" name="TextBox 35"/>
          <p:cNvSpPr>
            <a:spLocks noGrp="1"/>
          </p:cNvSpPr>
          <p:nvPr/>
        </p:nvSpPr>
        <p:spPr>
          <a:xfrm>
            <a:off x="8100393" y="6321464"/>
            <a:ext cx="10231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lang="ru-RU"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7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</a:t>
            </a:r>
            <a:r>
              <a:rPr lang="ru-RU"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19</a:t>
            </a:r>
            <a:endParaRPr lang="ru-RU"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graphicFrame>
        <p:nvGraphicFramePr>
          <p:cNvPr id="49" name="Таблица 5"/>
          <p:cNvGraphicFramePr/>
          <p:nvPr/>
        </p:nvGraphicFramePr>
        <p:xfrm>
          <a:off x="548005" y="1052830"/>
          <a:ext cx="8056245" cy="44545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114165"/>
                <a:gridCol w="3942080"/>
              </a:tblGrid>
              <a:tr h="352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Проверка</a:t>
                      </a:r>
                      <a:endParaRPr sz="1200" b="1"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3493" marR="63493" marT="9519" marB="0" anchor="ctr" horzOverflow="overflow"/>
                </a:tc>
                <a:tc>
                  <a:txBody>
                    <a:bodyPr/>
                    <a:lstStyle/>
                    <a:p>
                      <a:pPr marL="0" marR="0" indent="17780" algn="ctr" defTabSz="91440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1" u="none" cap="none">
                          <a:ln>
                            <a:noFill/>
                          </a:ln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Результат</a:t>
                      </a:r>
                      <a:endParaRPr sz="1200" b="1" u="none" cap="none">
                        <a:ln>
                          <a:noFill/>
                        </a:ln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3493" marR="63493" marT="9519" marB="0" anchor="ctr" horzOverflow="overflow"/>
                </a:tc>
              </a:tr>
              <a:tr h="662940">
                <a:tc>
                  <a:txBody>
                    <a:bodyPr/>
                    <a:lstStyle/>
                    <a:p>
                      <a:pPr marL="0" marR="0" indent="450215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Сменить роль, заблокировать, разблокировать и удалить другого пользователя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Изменения сохранены и немедленно влияют на авторизацию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  <a:tr h="610870">
                <a:tc>
                  <a:txBody>
                    <a:bodyPr/>
                    <a:p>
                      <a:r>
                        <a:rPr lang="en-US" altLang="en-US" sz="1200" b="0" i="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Передать неверный пароль</a:t>
                      </a:r>
                      <a:endParaRPr lang="en-US" altLang="en-US" sz="1200" b="0" i="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82867" marR="82867" marT="38417" marB="38417" anchor="ctr" anchorCtr="0"/>
                </a:tc>
                <a:tc>
                  <a:txBody>
                    <a:bodyPr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401, код </a:t>
                      </a:r>
                      <a:r>
                        <a:rPr lang="en-US" altLang="ru-RU"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AUTHENTICATION_FAILED; </a:t>
                      </a: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сессия не авторизована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  <a:tr h="621030">
                <a:tc>
                  <a:txBody>
                    <a:bodyPr/>
                    <a:p>
                      <a:pPr marL="0" marR="0" indent="450215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Открыть каталог, карточку и сравнение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Не более одного знака после запятой; размеры в миллиметрах целые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  <a:tr h="641350">
                <a:tc>
                  <a:txBody>
                    <a:bodyPr/>
                    <a:p>
                      <a:pPr marL="0" marR="0" indent="450215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Отфильтровать семейство, производителя, применение и материал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Возвращаются только записи, удовлетворяющие всем активным группам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  <a:tr h="685800">
                <a:tc>
                  <a:txBody>
                    <a:bodyPr/>
                    <a:p>
                      <a:pPr marL="0" marR="0" indent="450215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Создать записи с одинаковым внутренним баллом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Выше полнота, затем производитель и модель по алфавиту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  <a:tr h="880110">
                <a:tc>
                  <a:txBody>
                    <a:bodyPr/>
                    <a:p>
                      <a:pPr marL="0" marR="0" indent="450215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ru-RU" altLang="en-US"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В </a:t>
                      </a: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Excel </a:t>
                      </a:r>
                      <a:r>
                        <a:rPr lang="ru-RU" altLang="en-US"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пр</a:t>
                      </a: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именить фильтры и выполнить экспорт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indent="450215" algn="l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Загружается валидный .</a:t>
                      </a:r>
                      <a:r>
                        <a:rPr lang="en-US" altLang="ru-RU"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xlsx; </a:t>
                      </a:r>
                      <a:r>
                        <a:rPr lang="en-US" altLang="en-US" sz="1200">
                          <a:solidFill>
                            <a:srgbClr val="000000"/>
                          </a:solidFill>
                          <a:latin typeface="Verdana" panose="020B0604030504040204"/>
                          <a:ea typeface="Verdana" panose="020B0604030504040204"/>
                          <a:cs typeface="Verdana" panose="020B0604030504040204"/>
                        </a:rPr>
                        <a:t>строки соответствуют текущей выдаче, заголовок закреплён, автофильтр включён</a:t>
                      </a:r>
                      <a:endParaRPr lang="en-US" altLang="en-US" sz="1200">
                        <a:solidFill>
                          <a:srgbClr val="000000"/>
                        </a:solidFill>
                        <a:latin typeface="Verdana" panose="020B0604030504040204"/>
                        <a:ea typeface="Verdana" panose="020B0604030504040204"/>
                        <a:cs typeface="Verdana" panose="020B0604030504040204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="ctr">
            <a:normAutofit fontScale="92308" lnSpcReduction="10000"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26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Выводы по работе</a:t>
            </a:r>
            <a:endParaRPr sz="26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149" name="Rectangle 2"/>
          <p:cNvSpPr>
            <a:spLocks noGrp="1"/>
          </p:cNvSpPr>
          <p:nvPr/>
        </p:nvSpPr>
        <p:spPr>
          <a:xfrm>
            <a:off x="827584" y="2345883"/>
            <a:ext cx="7930355" cy="183127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>
              <a:buNone/>
            </a:pPr>
          </a:p>
        </p:txBody>
      </p:sp>
      <p:pic>
        <p:nvPicPr>
          <p:cNvPr id="6156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18633"/>
            <a:ext cx="601663" cy="762000"/>
          </a:xfrm>
          <a:prstGeom prst="rect">
            <a:avLst/>
          </a:prstGeom>
          <a:ln>
            <a:noFill/>
          </a:ln>
        </p:spPr>
      </p:pic>
      <p:sp>
        <p:nvSpPr>
          <p:cNvPr id="5" name="Rectangle 15"/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/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36114" y="978329"/>
            <a:ext cx="9101535" cy="3412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>
              <a:lnSpc>
                <a:spcPct val="114000"/>
              </a:lnSpc>
              <a:spcAft>
                <a:spcPts val="800"/>
              </a:spcAft>
              <a:buNone/>
            </a:pP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В результате практики:</a:t>
            </a:r>
            <a:endParaRPr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indent="450215">
              <a:lnSpc>
                <a:spcPct val="114000"/>
              </a:lnSpc>
              <a:spcAft>
                <a:spcPts val="800"/>
              </a:spcAft>
              <a:buNone/>
            </a:pP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1) разработана нормализованная модель каталога и загружено 50 аппаратов;</a:t>
            </a:r>
            <a:endParaRPr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indent="450215">
              <a:lnSpc>
                <a:spcPct val="114000"/>
              </a:lnSpc>
              <a:buNone/>
            </a:pP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2) реализованы 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регистрация</a:t>
            </a: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, вход, каталог, фильтры, карточка, сравнение и Excel;</a:t>
            </a:r>
            <a:endParaRPr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indent="450215">
              <a:lnSpc>
                <a:spcPct val="114000"/>
              </a:lnSpc>
              <a:buNone/>
            </a:pP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3) создана админ</a:t>
            </a:r>
            <a:r>
              <a:rPr lang="ru-RU">
                <a:latin typeface="Verdana" panose="020B0604030504040204"/>
                <a:ea typeface="Verdana" panose="020B0604030504040204"/>
                <a:cs typeface="Verdana" panose="020B0604030504040204"/>
              </a:rPr>
              <a:t>истративная панель</a:t>
            </a: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 со статусами;</a:t>
            </a:r>
            <a:endParaRPr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indent="450215">
              <a:lnSpc>
                <a:spcPct val="114000"/>
              </a:lnSpc>
              <a:buNone/>
            </a:pP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4) обеспечены CSRF-защита, отзыв доступа и контроль ролей;</a:t>
            </a:r>
            <a:endParaRPr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indent="450215">
              <a:lnSpc>
                <a:spcPct val="114000"/>
              </a:lnSpc>
              <a:buNone/>
            </a:pP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5) Java- и React-тесты объединены с </a:t>
            </a:r>
            <a:r>
              <a:rPr lang="ru-RU">
                <a:latin typeface="Verdana" panose="020B0604030504040204"/>
                <a:ea typeface="Verdana" panose="020B0604030504040204"/>
                <a:cs typeface="Verdana" panose="020B0604030504040204"/>
              </a:rPr>
              <a:t>программной </a:t>
            </a:r>
            <a:r>
              <a:rPr>
                <a:latin typeface="Verdana" panose="020B0604030504040204"/>
                <a:ea typeface="Verdana" panose="020B0604030504040204"/>
                <a:cs typeface="Verdana" panose="020B0604030504040204"/>
              </a:rPr>
              <a:t>сборкой одного JAR.</a:t>
            </a:r>
            <a:endParaRPr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indent="450215">
              <a:lnSpc>
                <a:spcPct val="114000"/>
              </a:lnSpc>
              <a:buNone/>
            </a:pPr>
          </a:p>
          <a:p>
            <a:pPr indent="450215">
              <a:buNone/>
            </a:pPr>
          </a:p>
        </p:txBody>
      </p:sp>
      <p:pic>
        <p:nvPicPr>
          <p:cNvPr id="6159" name="Picture 6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6160" name="Picture 108"/>
          <p:cNvPicPr>
            <a:picLocks noChangeAspect="1"/>
          </p:cNvPicPr>
          <p:nvPr/>
        </p:nvPicPr>
        <p:blipFill>
          <a:blip r:embed="rId3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>
            <a:spLocks noGrp="1"/>
          </p:cNvSpPr>
          <p:nvPr/>
        </p:nvSpPr>
        <p:spPr>
          <a:xfrm>
            <a:off x="8100393" y="6321464"/>
            <a:ext cx="10231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</a:t>
            </a:r>
            <a:r>
              <a:rPr lang="ru-RU" b="1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8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</a:t>
            </a:r>
            <a:r>
              <a:rPr lang="ru-RU"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19</a:t>
            </a:r>
            <a:endParaRPr lang="ru-RU"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2"/>
          <p:cNvSpPr>
            <a:spLocks noGrp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ThermoSelect — информационно-поисковая система выбора теплообменников</a:t>
            </a:r>
            <a:endParaRPr sz="1200" b="1" i="0" u="none" cap="none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233772" y="2507537"/>
            <a:ext cx="8676456" cy="134076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buNone/>
            </a:pPr>
            <a:r>
              <a:rPr sz="40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Verdana" panose="020B0604030504040204"/>
                <a:cs typeface="Verdana" panose="020B0604030504040204"/>
              </a:rPr>
              <a:t>Спасибо за внимание!</a:t>
            </a:r>
            <a:endParaRPr sz="4000" b="1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149" name="Rectangle 2"/>
          <p:cNvSpPr>
            <a:spLocks noGrp="1"/>
          </p:cNvSpPr>
          <p:nvPr/>
        </p:nvSpPr>
        <p:spPr>
          <a:xfrm>
            <a:off x="827584" y="2345883"/>
            <a:ext cx="7930355" cy="1831271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/>
              <a:buChar char="•"/>
              <a:defRPr sz="32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742950" indent="-285750">
              <a:spcBef>
                <a:spcPct val="20000"/>
              </a:spcBef>
              <a:buFont typeface="Arial" panose="020B0604020202020204"/>
              <a:buChar char="–"/>
              <a:defRPr sz="28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143000" indent="-228600">
              <a:spcBef>
                <a:spcPct val="200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600200" indent="-228600">
              <a:spcBef>
                <a:spcPct val="20000"/>
              </a:spcBef>
              <a:buFont typeface="Arial" panose="020B0604020202020204"/>
              <a:buChar char="–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057400" indent="-228600">
              <a:spcBef>
                <a:spcPct val="20000"/>
              </a:spcBef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 panose="020B0604020202020204"/>
              <a:buChar char="»"/>
              <a:defRPr sz="20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>
              <a:buNone/>
            </a:pPr>
          </a:p>
        </p:txBody>
      </p:sp>
      <p:sp>
        <p:nvSpPr>
          <p:cNvPr id="5" name="Rectangle 15"/>
          <p:cNvSpPr>
            <a:spLocks noGrp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/>
        </p:txBody>
      </p:sp>
      <p:pic>
        <p:nvPicPr>
          <p:cNvPr id="6156" name="Picture 6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50" y="3175"/>
            <a:ext cx="820738" cy="1039813"/>
          </a:xfrm>
          <a:prstGeom prst="rect">
            <a:avLst/>
          </a:prstGeom>
          <a:ln>
            <a:noFill/>
          </a:ln>
        </p:spPr>
      </p:pic>
      <p:pic>
        <p:nvPicPr>
          <p:cNvPr id="6157" name="Picture 108"/>
          <p:cNvPicPr>
            <a:picLocks noChangeAspect="1"/>
          </p:cNvPicPr>
          <p:nvPr/>
        </p:nvPicPr>
        <p:blipFill>
          <a:blip r:embed="rId2"/>
          <a:srcRect l="3600" t="10747" r="34196" b="37616"/>
          <a:stretch>
            <a:fillRect/>
          </a:stretch>
        </p:blipFill>
        <p:spPr>
          <a:xfrm>
            <a:off x="8448675" y="-6437"/>
            <a:ext cx="701675" cy="688975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>
            <a:spLocks noGrp="1"/>
          </p:cNvSpPr>
          <p:nvPr/>
        </p:nvSpPr>
        <p:spPr>
          <a:xfrm>
            <a:off x="8100393" y="6321464"/>
            <a:ext cx="102315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ru-RU"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19</a:t>
            </a:r>
            <a:r>
              <a:rPr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/</a:t>
            </a:r>
            <a:r>
              <a:rPr lang="ru-RU" sz="1800" b="1" i="0" u="non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19</a:t>
            </a:r>
            <a:endParaRPr lang="ru-RU" sz="1800" b="1" i="0" u="none" cap="none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7265</Words>
  <Application>WPS Presentation</Application>
  <PresentationFormat>Converted Presentation</PresentationFormat>
  <Paragraphs>391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Arial</vt:lpstr>
      <vt:lpstr>Wingdings</vt:lpstr>
      <vt:lpstr>Times New Roman</vt:lpstr>
      <vt:lpstr>Verdana</vt:lpstr>
      <vt:lpstr>Microsoft YaHei</vt:lpstr>
      <vt:lpstr>Arial Unicode MS</vt:lpstr>
      <vt:lpstr>Times New Roman</vt:lpstr>
      <vt:lpstr>Verdana</vt:lpstr>
      <vt:lpstr>Calibri</vt:lpstr>
      <vt:lpstr>Mona Sans VF</vt:lpstr>
      <vt:lpstr>Segoe Print</vt:lpstr>
      <vt:lpstr>Тема Office</vt:lpstr>
      <vt:lpstr>1_Тема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UML-диаграмма вариантов использования</vt:lpstr>
      <vt:lpstr>Концептуальная модель базы данных</vt:lpstr>
      <vt:lpstr>Даталогическая модель базы данных</vt:lpstr>
      <vt:lpstr>PostgreSQL выбрана за ограничения целостности, MVCC и предсказуемую транзакционную модель. H2 используется только для тестов и локального запуска.</vt:lpstr>
      <vt:lpstr>React + Spring Boot выбраны за компонентный UI, типизированную серверную модель, Spring Security, интеграционные тесты и поставку в одном исполняемом JAR.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milan</cp:lastModifiedBy>
  <cp:revision>8</cp:revision>
  <dcterms:created xsi:type="dcterms:W3CDTF">2026-07-17T06:57:18Z</dcterms:created>
  <dcterms:modified xsi:type="dcterms:W3CDTF">2026-07-17T14:14:03Z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1049-12.1.0.26880</vt:lpwstr>
  </property>
  <property fmtid="{D5CDD505-2E9C-101B-9397-08002B2CF9AE}" pid="3" name="ICV">
    <vt:lpwstr>DD6D9E37201D4EB39A10783B46C05DFB_13</vt:lpwstr>
  </property>
</Properties>
</file>
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  <p:sldMasterId id="2147483708" r:id="rId2"/>
  </p:sldMasterIdLst>
  <p:notesMasterIdLst>
    <p:notesMasterId r:id="rId20"/>
  </p:notesMasterIdLst>
  <p:handoutMasterIdLst>
    <p:handoutMasterId r:id="rId21"/>
  </p:handoutMasterIdLst>
  <p:sldIdLst>
    <p:sldId id="271" r:id="rId3"/>
    <p:sldId id="257" r:id="rId4"/>
    <p:sldId id="259" r:id="rId5"/>
    <p:sldId id="276" r:id="rId6"/>
    <p:sldId id="277" r:id="rId7"/>
    <p:sldId id="263" r:id="rId8"/>
    <p:sldId id="280" r:id="rId9"/>
    <p:sldId id="281" r:id="rId10"/>
    <p:sldId id="278" r:id="rId11"/>
    <p:sldId id="279" r:id="rId12"/>
    <p:sldId id="273" r:id="rId13"/>
    <p:sldId id="272" r:id="rId14"/>
    <p:sldId id="275" r:id="rId15"/>
    <p:sldId id="282" r:id="rId16"/>
    <p:sldId id="270" r:id="rId17"/>
    <p:sldId id="268" r:id="rId18"/>
    <p:sldId id="269" r:id="rId19"/>
  </p:sldIdLst>
  <p:sldSz cx="9144000" cy="6858000" type="screen4x3"/>
  <p:notesSz cx="6858000" cy="9144000"/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009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01" autoAdjust="0"/>
    <p:restoredTop sz="94585" autoAdjust="0"/>
  </p:normalViewPr>
  <p:slideViewPr>
    <p:cSldViewPr>
      <p:cViewPr varScale="1">
        <p:scale>
          <a:sx n="105" d="100"/>
          <a:sy n="105" d="100"/>
        </p:scale>
        <p:origin x="942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83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F6A790FD-9C72-40EE-AF9C-A8E5F69D519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27B914B-99E0-414C-8EF0-543E7DB346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52D43A98-4318-43EA-AC9D-188CCCFFB079}" type="datetimeFigureOut">
              <a:rPr lang="ru-RU"/>
              <a:pPr>
                <a:defRPr/>
              </a:pPr>
              <a:t>05.07.2024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5CAB81B-AB5C-498D-BFE0-2DB3CD42CF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FB73FA0-4512-446B-B3F0-7BD02C59E79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E36CFE6F-79C8-488B-AB58-3C5C9927F5EE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BDC1648A-FD53-4F96-82B1-C383532A86F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D2D8499-E65C-41FC-BEAC-C92690C0F87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0EBE0F83-E26D-4CBC-A1B1-7BD1374C7F44}" type="datetimeFigureOut">
              <a:rPr lang="ru-RU"/>
              <a:pPr>
                <a:defRPr/>
              </a:pPr>
              <a:t>05.07.2024</a:t>
            </a:fld>
            <a:endParaRPr lang="ru-RU"/>
          </a:p>
        </p:txBody>
      </p:sp>
      <p:sp>
        <p:nvSpPr>
          <p:cNvPr id="4" name="Образ слайда 3">
            <a:extLst>
              <a:ext uri="{FF2B5EF4-FFF2-40B4-BE49-F238E27FC236}">
                <a16:creationId xmlns:a16="http://schemas.microsoft.com/office/drawing/2014/main" id="{9E833C4A-CEE6-4A9C-A558-A7B6E49A0A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>
            <a:extLst>
              <a:ext uri="{FF2B5EF4-FFF2-40B4-BE49-F238E27FC236}">
                <a16:creationId xmlns:a16="http://schemas.microsoft.com/office/drawing/2014/main" id="{DA160068-CBBD-4351-BFF4-12F99E8AED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9DAA4BB-261B-499E-AA7F-B05E82B4FDA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4B5B8AB-5D75-40CD-8488-D5869C82BC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EA4D7278-4641-4569-9D88-CD887A4ADFFB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1142043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  <p:sp>
        <p:nvSpPr>
          <p:cNvPr id="5124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7DEA14B-E5A4-4A8B-BE35-665086B019CE}" type="slidenum">
              <a:rPr kumimoji="0" lang="ru-RU" alt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alt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67252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Образ слайда 1">
            <a:extLst>
              <a:ext uri="{FF2B5EF4-FFF2-40B4-BE49-F238E27FC236}">
                <a16:creationId xmlns:a16="http://schemas.microsoft.com/office/drawing/2014/main" id="{4565F30F-A801-4C97-83CC-D14B5A2EB40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Заметки 2">
            <a:extLst>
              <a:ext uri="{FF2B5EF4-FFF2-40B4-BE49-F238E27FC236}">
                <a16:creationId xmlns:a16="http://schemas.microsoft.com/office/drawing/2014/main" id="{A5054610-D6C3-4518-99F2-7A0DD43E991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  <p:sp>
        <p:nvSpPr>
          <p:cNvPr id="7172" name="Номер слайда 3">
            <a:extLst>
              <a:ext uri="{FF2B5EF4-FFF2-40B4-BE49-F238E27FC236}">
                <a16:creationId xmlns:a16="http://schemas.microsoft.com/office/drawing/2014/main" id="{057F1541-00E9-467C-898D-B7B2379888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77B0B1B-D2B9-4A07-8F48-73C132197027}" type="slidenum">
              <a:rPr lang="ru-RU" altLang="ru-RU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</a:t>
            </a:fld>
            <a:endParaRPr lang="ru-RU" altLang="ru-RU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7648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Образ слайда 1">
            <a:extLst>
              <a:ext uri="{FF2B5EF4-FFF2-40B4-BE49-F238E27FC236}">
                <a16:creationId xmlns:a16="http://schemas.microsoft.com/office/drawing/2014/main" id="{4565F30F-A801-4C97-83CC-D14B5A2EB40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Заметки 2">
            <a:extLst>
              <a:ext uri="{FF2B5EF4-FFF2-40B4-BE49-F238E27FC236}">
                <a16:creationId xmlns:a16="http://schemas.microsoft.com/office/drawing/2014/main" id="{A5054610-D6C3-4518-99F2-7A0DD43E991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  <p:sp>
        <p:nvSpPr>
          <p:cNvPr id="7172" name="Номер слайда 3">
            <a:extLst>
              <a:ext uri="{FF2B5EF4-FFF2-40B4-BE49-F238E27FC236}">
                <a16:creationId xmlns:a16="http://schemas.microsoft.com/office/drawing/2014/main" id="{057F1541-00E9-467C-898D-B7B2379888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77B0B1B-D2B9-4A07-8F48-73C132197027}" type="slidenum">
              <a:rPr lang="ru-RU" altLang="ru-RU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</a:t>
            </a:fld>
            <a:endParaRPr lang="ru-RU" altLang="ru-RU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83790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Образ слайда 1">
            <a:extLst>
              <a:ext uri="{FF2B5EF4-FFF2-40B4-BE49-F238E27FC236}">
                <a16:creationId xmlns:a16="http://schemas.microsoft.com/office/drawing/2014/main" id="{4565F30F-A801-4C97-83CC-D14B5A2EB40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Заметки 2">
            <a:extLst>
              <a:ext uri="{FF2B5EF4-FFF2-40B4-BE49-F238E27FC236}">
                <a16:creationId xmlns:a16="http://schemas.microsoft.com/office/drawing/2014/main" id="{A5054610-D6C3-4518-99F2-7A0DD43E991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  <p:sp>
        <p:nvSpPr>
          <p:cNvPr id="7172" name="Номер слайда 3">
            <a:extLst>
              <a:ext uri="{FF2B5EF4-FFF2-40B4-BE49-F238E27FC236}">
                <a16:creationId xmlns:a16="http://schemas.microsoft.com/office/drawing/2014/main" id="{057F1541-00E9-467C-898D-B7B2379888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77B0B1B-D2B9-4A07-8F48-73C132197027}" type="slidenum">
              <a:rPr lang="ru-RU" altLang="ru-RU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4</a:t>
            </a:fld>
            <a:endParaRPr lang="ru-RU" altLang="ru-RU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90290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Образ слайда 1">
            <a:extLst>
              <a:ext uri="{FF2B5EF4-FFF2-40B4-BE49-F238E27FC236}">
                <a16:creationId xmlns:a16="http://schemas.microsoft.com/office/drawing/2014/main" id="{4565F30F-A801-4C97-83CC-D14B5A2EB40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Заметки 2">
            <a:extLst>
              <a:ext uri="{FF2B5EF4-FFF2-40B4-BE49-F238E27FC236}">
                <a16:creationId xmlns:a16="http://schemas.microsoft.com/office/drawing/2014/main" id="{A5054610-D6C3-4518-99F2-7A0DD43E991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  <p:sp>
        <p:nvSpPr>
          <p:cNvPr id="7172" name="Номер слайда 3">
            <a:extLst>
              <a:ext uri="{FF2B5EF4-FFF2-40B4-BE49-F238E27FC236}">
                <a16:creationId xmlns:a16="http://schemas.microsoft.com/office/drawing/2014/main" id="{057F1541-00E9-467C-898D-B7B2379888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77B0B1B-D2B9-4A07-8F48-73C132197027}" type="slidenum">
              <a:rPr lang="ru-RU" altLang="ru-RU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5</a:t>
            </a:fld>
            <a:endParaRPr lang="ru-RU" altLang="ru-RU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12445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Образ слайда 1">
            <a:extLst>
              <a:ext uri="{FF2B5EF4-FFF2-40B4-BE49-F238E27FC236}">
                <a16:creationId xmlns:a16="http://schemas.microsoft.com/office/drawing/2014/main" id="{4565F30F-A801-4C97-83CC-D14B5A2EB40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Заметки 2">
            <a:extLst>
              <a:ext uri="{FF2B5EF4-FFF2-40B4-BE49-F238E27FC236}">
                <a16:creationId xmlns:a16="http://schemas.microsoft.com/office/drawing/2014/main" id="{A5054610-D6C3-4518-99F2-7A0DD43E991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  <p:sp>
        <p:nvSpPr>
          <p:cNvPr id="7172" name="Номер слайда 3">
            <a:extLst>
              <a:ext uri="{FF2B5EF4-FFF2-40B4-BE49-F238E27FC236}">
                <a16:creationId xmlns:a16="http://schemas.microsoft.com/office/drawing/2014/main" id="{057F1541-00E9-467C-898D-B7B2379888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77B0B1B-D2B9-4A07-8F48-73C132197027}" type="slidenum">
              <a:rPr lang="ru-RU" altLang="ru-RU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6</a:t>
            </a:fld>
            <a:endParaRPr lang="ru-RU" altLang="ru-RU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8130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  <p:sp>
        <p:nvSpPr>
          <p:cNvPr id="19460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12806D03-A598-45FD-A512-F3118E7C0022}" type="slidenum">
              <a:rPr lang="ru-RU" altLang="ru-RU" smtClean="0"/>
              <a:pPr/>
              <a:t>10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3325612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  <p:sp>
        <p:nvSpPr>
          <p:cNvPr id="25604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AC5D850-7EC4-42C3-A9B5-AF725BDBF306}" type="slidenum">
              <a:rPr lang="ru-RU" altLang="ru-RU" smtClean="0"/>
              <a:pPr/>
              <a:t>11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1989767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  <p:sp>
        <p:nvSpPr>
          <p:cNvPr id="37892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D94D4C08-6369-445C-990D-648348267E64}" type="slidenum">
              <a:rPr lang="ru-RU" altLang="ru-RU"/>
              <a:pPr/>
              <a:t>12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8189944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  <p:sp>
        <p:nvSpPr>
          <p:cNvPr id="32772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1233995-B5E9-493C-B7F3-A7FA2F3BB93D}" type="slidenum">
              <a:rPr lang="ru-RU" altLang="ru-RU" smtClean="0"/>
              <a:pPr/>
              <a:t>13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2942054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Образ слайда 1">
            <a:extLst>
              <a:ext uri="{FF2B5EF4-FFF2-40B4-BE49-F238E27FC236}">
                <a16:creationId xmlns:a16="http://schemas.microsoft.com/office/drawing/2014/main" id="{4565F30F-A801-4C97-83CC-D14B5A2EB40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Заметки 2">
            <a:extLst>
              <a:ext uri="{FF2B5EF4-FFF2-40B4-BE49-F238E27FC236}">
                <a16:creationId xmlns:a16="http://schemas.microsoft.com/office/drawing/2014/main" id="{A5054610-D6C3-4518-99F2-7A0DD43E991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  <p:sp>
        <p:nvSpPr>
          <p:cNvPr id="7172" name="Номер слайда 3">
            <a:extLst>
              <a:ext uri="{FF2B5EF4-FFF2-40B4-BE49-F238E27FC236}">
                <a16:creationId xmlns:a16="http://schemas.microsoft.com/office/drawing/2014/main" id="{057F1541-00E9-467C-898D-B7B2379888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77B0B1B-D2B9-4A07-8F48-73C132197027}" type="slidenum">
              <a:rPr lang="ru-RU" altLang="ru-RU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15</a:t>
            </a:fld>
            <a:endParaRPr lang="ru-RU" altLang="ru-RU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49272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Образ слайда 1">
            <a:extLst>
              <a:ext uri="{FF2B5EF4-FFF2-40B4-BE49-F238E27FC236}">
                <a16:creationId xmlns:a16="http://schemas.microsoft.com/office/drawing/2014/main" id="{4565F30F-A801-4C97-83CC-D14B5A2EB40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Заметки 2">
            <a:extLst>
              <a:ext uri="{FF2B5EF4-FFF2-40B4-BE49-F238E27FC236}">
                <a16:creationId xmlns:a16="http://schemas.microsoft.com/office/drawing/2014/main" id="{A5054610-D6C3-4518-99F2-7A0DD43E991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  <p:sp>
        <p:nvSpPr>
          <p:cNvPr id="7172" name="Номер слайда 3">
            <a:extLst>
              <a:ext uri="{FF2B5EF4-FFF2-40B4-BE49-F238E27FC236}">
                <a16:creationId xmlns:a16="http://schemas.microsoft.com/office/drawing/2014/main" id="{057F1541-00E9-467C-898D-B7B2379888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77B0B1B-D2B9-4A07-8F48-73C132197027}" type="slidenum">
              <a:rPr lang="ru-RU" altLang="ru-RU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16</a:t>
            </a:fld>
            <a:endParaRPr lang="ru-RU" altLang="ru-RU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25541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Образ слайда 1">
            <a:extLst>
              <a:ext uri="{FF2B5EF4-FFF2-40B4-BE49-F238E27FC236}">
                <a16:creationId xmlns:a16="http://schemas.microsoft.com/office/drawing/2014/main" id="{4565F30F-A801-4C97-83CC-D14B5A2EB40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Заметки 2">
            <a:extLst>
              <a:ext uri="{FF2B5EF4-FFF2-40B4-BE49-F238E27FC236}">
                <a16:creationId xmlns:a16="http://schemas.microsoft.com/office/drawing/2014/main" id="{A5054610-D6C3-4518-99F2-7A0DD43E991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  <p:sp>
        <p:nvSpPr>
          <p:cNvPr id="7172" name="Номер слайда 3">
            <a:extLst>
              <a:ext uri="{FF2B5EF4-FFF2-40B4-BE49-F238E27FC236}">
                <a16:creationId xmlns:a16="http://schemas.microsoft.com/office/drawing/2014/main" id="{057F1541-00E9-467C-898D-B7B2379888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77B0B1B-D2B9-4A07-8F48-73C132197027}" type="slidenum">
              <a:rPr lang="ru-RU" altLang="ru-RU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17</a:t>
            </a:fld>
            <a:endParaRPr lang="ru-RU" altLang="ru-RU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44361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C7175E9-28B1-4D91-9F34-670208F1A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477CAA-39EC-4A3C-B30F-483B0C313518}" type="datetime1">
              <a:rPr lang="ru-RU" smtClean="0"/>
              <a:t>05.07.2024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050C5B2-7CE6-4CEF-B6BE-9081042A2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9540A05-9C70-4872-B37B-FEBAF0198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3C7CE9-2C36-4AB4-80D4-5D9BEF371F62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657812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F821054-E710-4015-80F7-7345360F1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61DC81-4FBF-44DA-81CE-71161BF5EB69}" type="datetime1">
              <a:rPr lang="ru-RU" smtClean="0"/>
              <a:t>05.07.2024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6E7FFC6-DD28-4759-A87E-1B59A3B13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B97BE83-16A7-42D0-89F5-08794C206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1DFABB-070A-4FA0-ABAA-304D2DD234B5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272948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6518A26-7BA1-4BE3-9047-C199963D6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D74D36-956F-4FF2-814D-E29C9C72C39E}" type="datetime1">
              <a:rPr lang="ru-RU" smtClean="0"/>
              <a:t>05.07.2024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65ED431-05A1-41F1-8A89-173AD80A3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61884B8-6115-4618-9273-5E6AEC5D4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7A3921-22F9-43BB-B1D5-D9E8256F07EA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649848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489F1502-9183-4A7F-940B-1FCDC878F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8A097C-28B0-4DD3-8E7D-44817E9F253E}" type="datetime1">
              <a:rPr lang="ru-RU" smtClean="0"/>
              <a:t>05.07.2024</a:t>
            </a:fld>
            <a:endParaRPr lang="ru-RU" dirty="0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3E189402-C8FE-4CBC-B3DD-D541CF4D9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6F672B88-A316-4460-BD50-EA0373382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80E0D0-A7E8-454F-BA9A-22476B227A89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212208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3">
            <a:extLst>
              <a:ext uri="{FF2B5EF4-FFF2-40B4-BE49-F238E27FC236}">
                <a16:creationId xmlns:a16="http://schemas.microsoft.com/office/drawing/2014/main" id="{331454B1-95F8-47D4-85BD-9551F213F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C7EB1C-1500-43B4-937A-B81AB320D89A}" type="datetime1">
              <a:rPr lang="ru-RU" smtClean="0"/>
              <a:t>05.07.2024</a:t>
            </a:fld>
            <a:endParaRPr lang="ru-RU" dirty="0"/>
          </a:p>
        </p:txBody>
      </p:sp>
      <p:sp>
        <p:nvSpPr>
          <p:cNvPr id="8" name="Нижний колонтитул 4">
            <a:extLst>
              <a:ext uri="{FF2B5EF4-FFF2-40B4-BE49-F238E27FC236}">
                <a16:creationId xmlns:a16="http://schemas.microsoft.com/office/drawing/2014/main" id="{2D0C24B3-3BBA-420D-AC4E-FF8F8AF40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052CEEC0-0931-4C4A-A560-732D1C468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D3CA77-2B79-4D28-A359-7906A03D828A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580504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3">
            <a:extLst>
              <a:ext uri="{FF2B5EF4-FFF2-40B4-BE49-F238E27FC236}">
                <a16:creationId xmlns:a16="http://schemas.microsoft.com/office/drawing/2014/main" id="{1059528D-FA89-4476-BB12-B92EC81A4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89461A-FB79-4DD0-ABA4-06D82E1288FC}" type="datetime1">
              <a:rPr lang="ru-RU" smtClean="0"/>
              <a:t>05.07.2024</a:t>
            </a:fld>
            <a:endParaRPr lang="ru-RU" dirty="0"/>
          </a:p>
        </p:txBody>
      </p:sp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B0627605-0738-465E-AE7C-339833FF8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538FB4E1-F265-4608-AE19-D5C1E0473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0CFF0D-5C0D-47A5-AA7D-0C17C09FCD3F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011440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3">
            <a:extLst>
              <a:ext uri="{FF2B5EF4-FFF2-40B4-BE49-F238E27FC236}">
                <a16:creationId xmlns:a16="http://schemas.microsoft.com/office/drawing/2014/main" id="{A336BC5A-2C13-4227-BC9C-9ED7CE0C3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903FEC-6E62-4C5A-ACE5-0378AB797301}" type="datetime1">
              <a:rPr lang="ru-RU" smtClean="0"/>
              <a:t>05.07.2024</a:t>
            </a:fld>
            <a:endParaRPr lang="ru-RU" dirty="0"/>
          </a:p>
        </p:txBody>
      </p:sp>
      <p:sp>
        <p:nvSpPr>
          <p:cNvPr id="3" name="Нижний колонтитул 4">
            <a:extLst>
              <a:ext uri="{FF2B5EF4-FFF2-40B4-BE49-F238E27FC236}">
                <a16:creationId xmlns:a16="http://schemas.microsoft.com/office/drawing/2014/main" id="{5CDB8357-AA8C-4B5A-9368-3778B7180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3AACFE28-AA0E-458D-A511-40D7568AD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B1B57B-5B43-4922-9002-E42FC20CE5AF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831627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BA6CCA76-461A-424E-B6FD-55020EEE3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51B0CA-8942-4980-BD77-7CC6A667AB00}" type="datetime1">
              <a:rPr lang="ru-RU" smtClean="0"/>
              <a:t>05.07.2024</a:t>
            </a:fld>
            <a:endParaRPr lang="ru-RU" dirty="0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DC2354A7-85B6-432D-A3D6-52998BB74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2D0956E7-C1DC-4B98-92C1-6B8EAE3D5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F2A46D-B3E9-41EA-A240-3EE17F0AC0CA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101105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D0634E16-14F0-4340-A0F8-9E6198AF5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8F958A-2D6D-4875-986D-AF5FBA19ABD1}" type="datetime1">
              <a:rPr lang="ru-RU" smtClean="0"/>
              <a:t>05.07.2024</a:t>
            </a:fld>
            <a:endParaRPr lang="ru-RU" dirty="0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F9B05917-0ED5-47EC-8E07-8A082BC9D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C7B11642-3CCC-4350-AB83-246D1F0DA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0C1DD5-ACC8-4889-BD5C-089010C86BD4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120774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C765E2E-DF57-459E-8DAA-15E6FC190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3E9EB4-B04E-422B-9B3D-EF7D97544E0B}" type="datetime1">
              <a:rPr lang="ru-RU" smtClean="0"/>
              <a:t>05.07.2024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2720C33-CA78-4DD6-8254-94B56A01B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4A93EF-5F8B-492E-BEEF-DCC5A05CD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047F75-ED67-43E6-AFA6-C14148BB324C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025819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36EDA0F-9F6B-42A1-9CB4-05207F70F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9DA5F9-126B-4EA9-A15C-CF297A780BE6}" type="datetime1">
              <a:rPr lang="ru-RU" smtClean="0"/>
              <a:t>05.07.2024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9BC3D26-F476-4EC7-9A48-24F9F38FF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893E6E6-9DFC-4F2D-9114-10A920834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3A14A1-7B2A-4AD6-8E7A-48AF56E6C7BE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8437729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B210D8-868B-45DC-B38C-6081352DD587}" type="datetime1">
              <a:rPr lang="ru-RU" smtClean="0"/>
              <a:t>05.07.2024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551880-92B5-4C4B-AFA4-EC2D7BE30B40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4684648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3921B3-380D-4D19-B070-A5E047752D17}" type="datetime1">
              <a:rPr lang="ru-RU" smtClean="0"/>
              <a:t>05.07.2024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E4AA24-EE45-4450-B33F-4D9BFC364EBE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0394574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1EC8AA-89A6-418B-A073-D8CC16F9B9E9}" type="datetime1">
              <a:rPr lang="ru-RU" smtClean="0"/>
              <a:t>05.07.2024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A2FD6C-ADD2-4CA4-A4FF-6C5D3D839934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0041133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034717-ECD2-4CFF-B8C0-459B86DB5831}" type="datetime1">
              <a:rPr lang="ru-RU" smtClean="0"/>
              <a:t>05.07.2024</a:t>
            </a:fld>
            <a:endParaRPr lang="ru-RU" dirty="0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E9E273-C95E-4783-BE68-A3647C2C8E98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59365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69B68E-641E-461A-8692-0FE47A0C67BC}" type="datetime1">
              <a:rPr lang="ru-RU" smtClean="0"/>
              <a:t>05.07.2024</a:t>
            </a:fld>
            <a:endParaRPr lang="ru-RU" dirty="0"/>
          </a:p>
        </p:txBody>
      </p:sp>
      <p:sp>
        <p:nvSpPr>
          <p:cNvPr id="8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F649C3-CC5C-422E-9F9E-04276A8A61D0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2558503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D7DC8-F0D6-4C1A-924A-631457F566B4}" type="datetime1">
              <a:rPr lang="ru-RU" smtClean="0"/>
              <a:t>05.07.2024</a:t>
            </a:fld>
            <a:endParaRPr lang="ru-RU" dirty="0"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A31271-66D5-416C-B582-B08564A7EC3C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8066601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417BFB-71D3-4307-B157-AC411F7B0FDD}" type="datetime1">
              <a:rPr lang="ru-RU" smtClean="0"/>
              <a:t>05.07.2024</a:t>
            </a:fld>
            <a:endParaRPr lang="ru-RU" dirty="0"/>
          </a:p>
        </p:txBody>
      </p:sp>
      <p:sp>
        <p:nvSpPr>
          <p:cNvPr id="3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D39597-5E58-4977-B37F-D2A278C3B6A0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4138824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29ED1A-0E8A-4F73-9AF0-5E29CCEDAB7E}" type="datetime1">
              <a:rPr lang="ru-RU" smtClean="0"/>
              <a:t>05.07.2024</a:t>
            </a:fld>
            <a:endParaRPr lang="ru-RU" dirty="0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5223FA-7999-4A08-BFA2-1568F7C45CA5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5026176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54EC7D-192C-4B0D-885F-0CB21C613137}" type="datetime1">
              <a:rPr lang="ru-RU" smtClean="0"/>
              <a:t>05.07.2024</a:t>
            </a:fld>
            <a:endParaRPr lang="ru-RU" dirty="0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31F73F-5100-4628-8B70-8C38A67B6C0F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8564306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9090A8-DB27-47FB-87F3-C42F3BCDF677}" type="datetime1">
              <a:rPr lang="ru-RU" smtClean="0"/>
              <a:t>05.07.2024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31108C-0D76-4960-805A-404849839B50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0553019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D47A0E-6F08-4644-899B-2ECC727C3B6B}" type="datetime1">
              <a:rPr lang="ru-RU" smtClean="0"/>
              <a:t>05.07.2024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F60478-AE21-482E-B767-D5EA2B2B35DD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960368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>
            <a:extLst>
              <a:ext uri="{FF2B5EF4-FFF2-40B4-BE49-F238E27FC236}">
                <a16:creationId xmlns:a16="http://schemas.microsoft.com/office/drawing/2014/main" id="{4D7959D9-427D-4E9B-B692-EEBD5677F30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</a:p>
        </p:txBody>
      </p:sp>
      <p:sp>
        <p:nvSpPr>
          <p:cNvPr id="1027" name="Текст 2">
            <a:extLst>
              <a:ext uri="{FF2B5EF4-FFF2-40B4-BE49-F238E27FC236}">
                <a16:creationId xmlns:a16="http://schemas.microsoft.com/office/drawing/2014/main" id="{CE101852-9116-48E5-9EF6-D457BEE72E3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87B4643-2972-4EDF-AE9F-7456457BCD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C65F0D8-1D7A-4AE6-A007-3DC97855F165}" type="datetime1">
              <a:rPr lang="ru-RU" smtClean="0"/>
              <a:t>05.07.2024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AA988E6-C6B0-4FFE-8EC3-8E96E48B4F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CA2FE84-8B89-4AE1-9A8C-406DE7F0D9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2A43C248-CEC2-4AE8-A565-3EEA63B3E66D}" type="slidenum">
              <a:rPr lang="ru-RU" altLang="ru-RU"/>
              <a:pPr/>
              <a:t>‹#›</a:t>
            </a:fld>
            <a:endParaRPr lang="ru-RU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</a:p>
        </p:txBody>
      </p:sp>
      <p:sp>
        <p:nvSpPr>
          <p:cNvPr id="1027" name="Текст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C109E9F-D2C8-4FFA-BD39-01AD945D8983}" type="datetime1">
              <a:rPr lang="ru-RU" smtClean="0"/>
              <a:t>05.07.2024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C643C1AA-6C92-4B23-BCF3-3A2D9E4734F9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23941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jpe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60" descr="zna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" y="3175"/>
            <a:ext cx="820738" cy="103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0" name="Rectangle 3"/>
          <p:cNvSpPr txBox="1">
            <a:spLocks noRot="1" noChangeArrowheads="1"/>
          </p:cNvSpPr>
          <p:nvPr/>
        </p:nvSpPr>
        <p:spPr bwMode="auto">
          <a:xfrm>
            <a:off x="0" y="6597650"/>
            <a:ext cx="91440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ru-RU" alt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Санкт-Петербург 2024</a:t>
            </a:r>
          </a:p>
        </p:txBody>
      </p:sp>
      <p:sp>
        <p:nvSpPr>
          <p:cNvPr id="19" name="Rectangle 4"/>
          <p:cNvSpPr>
            <a:spLocks noChangeArrowheads="1"/>
          </p:cNvSpPr>
          <p:nvPr/>
        </p:nvSpPr>
        <p:spPr bwMode="auto">
          <a:xfrm>
            <a:off x="250825" y="0"/>
            <a:ext cx="8497888" cy="836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Минобрнауки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России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федеральное государственное бюджетное образовательное учреждение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высшего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образования                                                    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Санкт-Петербургский государственный технологический институт (технический университет)</a:t>
            </a:r>
          </a:p>
        </p:txBody>
      </p:sp>
      <p:sp>
        <p:nvSpPr>
          <p:cNvPr id="20" name="Rectangle 8"/>
          <p:cNvSpPr>
            <a:spLocks noChangeArrowheads="1"/>
          </p:cNvSpPr>
          <p:nvPr/>
        </p:nvSpPr>
        <p:spPr bwMode="auto">
          <a:xfrm>
            <a:off x="0" y="2276475"/>
            <a:ext cx="9144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УЧЕБНАЯ ПРАКТИКА</a:t>
            </a:r>
            <a:endParaRPr lang="ru-RU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Rectangle 10"/>
          <p:cNvSpPr>
            <a:spLocks noChangeArrowheads="1"/>
          </p:cNvSpPr>
          <p:nvPr/>
        </p:nvSpPr>
        <p:spPr bwMode="auto">
          <a:xfrm>
            <a:off x="827088" y="688975"/>
            <a:ext cx="7920037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УГСН 09.00.00 </a:t>
            </a:r>
            <a:r>
              <a:rPr kumimoji="0" lang="ru-RU" altLang="ru-RU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«Информатика и вычислительная техника»</a:t>
            </a:r>
            <a:r>
              <a:rPr kumimoji="0" lang="ru-RU" alt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Направление подготовки: 09.03.01 </a:t>
            </a:r>
            <a:r>
              <a:rPr kumimoji="0" lang="ru-RU" altLang="ru-RU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«Информатика и вычислительная техника»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Направленность: </a:t>
            </a:r>
            <a:r>
              <a:rPr kumimoji="0" lang="ru-RU" altLang="ru-RU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Автоматизированные системы обработки информации и управления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Уровень подготовки: </a:t>
            </a:r>
            <a:r>
              <a:rPr kumimoji="0" lang="ru-RU" altLang="ru-RU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бакалавр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Форма обучения:</a:t>
            </a:r>
            <a:r>
              <a:rPr kumimoji="0" lang="ru-RU" altLang="ru-RU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заочная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Факультет</a:t>
            </a:r>
            <a:r>
              <a:rPr kumimoji="0" lang="ru-RU" altLang="ru-RU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ru-RU" altLang="ru-RU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информационных технологий и управления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Кафедра </a:t>
            </a:r>
            <a:r>
              <a:rPr kumimoji="0" lang="ru-RU" altLang="ru-RU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систем автоматизированного проектирования и управления</a:t>
            </a:r>
          </a:p>
        </p:txBody>
      </p:sp>
      <p:sp>
        <p:nvSpPr>
          <p:cNvPr id="4104" name="Rectangle 1222"/>
          <p:cNvSpPr>
            <a:spLocks noChangeArrowheads="1"/>
          </p:cNvSpPr>
          <p:nvPr/>
        </p:nvSpPr>
        <p:spPr bwMode="auto">
          <a:xfrm>
            <a:off x="1082675" y="2781300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b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105" name="Rectangle 1224"/>
          <p:cNvSpPr>
            <a:spLocks noChangeArrowheads="1"/>
          </p:cNvSpPr>
          <p:nvPr/>
        </p:nvSpPr>
        <p:spPr bwMode="auto">
          <a:xfrm>
            <a:off x="1082675" y="2781300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b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10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10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alt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2106" name="Group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9426674"/>
              </p:ext>
            </p:extLst>
          </p:nvPr>
        </p:nvGraphicFramePr>
        <p:xfrm>
          <a:off x="-6592" y="3823886"/>
          <a:ext cx="9144000" cy="822720"/>
        </p:xfrm>
        <a:graphic>
          <a:graphicData uri="http://schemas.openxmlformats.org/drawingml/2006/table">
            <a:tbl>
              <a:tblPr/>
              <a:tblGrid>
                <a:gridCol w="2268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754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916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Обучающийся</a:t>
                      </a:r>
                    </a:p>
                  </a:txBody>
                  <a:tcPr marT="45660" marB="4566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Студент гр.</a:t>
                      </a:r>
                      <a:r>
                        <a:rPr kumimoji="0" lang="en-US" altLang="ru-RU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ru-RU" altLang="ru-RU" sz="1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ХХХ Фамилия Имя Отчество</a:t>
                      </a:r>
                      <a:endParaRPr kumimoji="0" lang="ru-RU" altLang="ru-RU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T="45660" marB="456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03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Руководители</a:t>
                      </a:r>
                      <a:endParaRPr kumimoji="0" lang="ru-RU" altLang="ru-RU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660" marB="4566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Tx/>
                        <a:buNone/>
                        <a:tabLst/>
                      </a:pPr>
                      <a:r>
                        <a:rPr kumimoji="0" lang="ru-RU" altLang="ru-RU" sz="1400" b="1" i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ст. преп. Козлов Андрей </a:t>
                      </a:r>
                      <a:r>
                        <a:rPr kumimoji="0" lang="ru-RU" altLang="ru-RU" sz="1400" b="1" i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Васильевич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Tx/>
                        <a:buNone/>
                        <a:tabLst/>
                      </a:pPr>
                      <a:r>
                        <a:rPr kumimoji="0" lang="ru-RU" altLang="ru-RU" sz="1400" b="1" i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доц. Разыграев Александр Сергеевич</a:t>
                      </a:r>
                      <a:endParaRPr kumimoji="0" lang="ru-RU" altLang="ru-RU" sz="1400" b="1" i="1" u="none" strike="noStrike" kern="1200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T="45660" marB="456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126" name="Picture 108" descr="Логотип_САПРиУ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0" t="10747" r="34196" b="37616"/>
          <a:stretch>
            <a:fillRect/>
          </a:stretch>
        </p:blipFill>
        <p:spPr bwMode="auto">
          <a:xfrm>
            <a:off x="8448675" y="-6437"/>
            <a:ext cx="701675" cy="68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Рисунок 2" descr="int_2">
            <a:extLst>
              <a:ext uri="{FF2B5EF4-FFF2-40B4-BE49-F238E27FC236}">
                <a16:creationId xmlns:a16="http://schemas.microsoft.com/office/drawing/2014/main" id="{C5EF6906-C252-635E-C812-E81F47AA83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592" y="6222257"/>
            <a:ext cx="909779" cy="6254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Google Shape;89;p13">
            <a:extLst>
              <a:ext uri="{FF2B5EF4-FFF2-40B4-BE49-F238E27FC236}">
                <a16:creationId xmlns:a16="http://schemas.microsoft.com/office/drawing/2014/main" id="{97A336D8-47DC-41B5-9D5E-0E886853A36B}"/>
              </a:ext>
            </a:extLst>
          </p:cNvPr>
          <p:cNvSpPr txBox="1"/>
          <p:nvPr/>
        </p:nvSpPr>
        <p:spPr>
          <a:xfrm>
            <a:off x="-72231" y="2852737"/>
            <a:ext cx="9144000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«Тема практики»</a:t>
            </a:r>
            <a:endParaRPr kumimoji="0" lang="ru-RU" altLang="ru-RU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331CEA-192C-4BFE-BCEB-C70F276BD78B}"/>
              </a:ext>
            </a:extLst>
          </p:cNvPr>
          <p:cNvSpPr txBox="1"/>
          <p:nvPr/>
        </p:nvSpPr>
        <p:spPr>
          <a:xfrm>
            <a:off x="892237" y="6006066"/>
            <a:ext cx="77897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Работа выполнена в рамках договора от </a:t>
            </a:r>
            <a:r>
              <a:rPr lang="en-US" altLang="ru-RU" sz="1800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r>
              <a:rPr kumimoji="0" lang="en-US" alt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.0</a:t>
            </a:r>
            <a:r>
              <a:rPr kumimoji="0" lang="ru-RU" alt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kumimoji="0" lang="en-US" alt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.202</a:t>
            </a:r>
            <a:r>
              <a:rPr kumimoji="0" lang="ru-RU" alt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kumimoji="0" lang="en-US" altLang="ru-RU" sz="1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ru-RU" alt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№</a:t>
            </a:r>
            <a:r>
              <a:rPr kumimoji="0" lang="en-US" altLang="ru-RU" sz="1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01</a:t>
            </a:r>
            <a:r>
              <a:rPr kumimoji="0" lang="ru-RU" alt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с АО «ХИМЭКС-2»</a:t>
            </a:r>
            <a:endParaRPr kumimoji="0" lang="ru-RU" altLang="ru-RU" sz="1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186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2">
            <a:extLst>
              <a:ext uri="{FF2B5EF4-FFF2-40B4-BE49-F238E27FC236}">
                <a16:creationId xmlns:a16="http://schemas.microsoft.com/office/drawing/2014/main" id="{F259C684-65C0-46C2-BC84-C7CFE3742987}"/>
              </a:ext>
            </a:extLst>
          </p:cNvPr>
          <p:cNvSpPr txBox="1">
            <a:spLocks noRot="1" noChangeArrowheads="1"/>
          </p:cNvSpPr>
          <p:nvPr/>
        </p:nvSpPr>
        <p:spPr>
          <a:xfrm>
            <a:off x="539750" y="6408738"/>
            <a:ext cx="7920038" cy="404812"/>
          </a:xfrm>
          <a:prstGeom prst="rect">
            <a:avLst/>
          </a:prstGeom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kumimoji="0" lang="ru-RU" alt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Программный комплекс для учета продукции предприятия по производству эпоксидных смол</a:t>
            </a:r>
            <a:endParaRPr lang="ru-RU" altLang="ru-RU" sz="1200" b="1" dirty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12C6544-F38A-4709-AC81-6745111096AE}"/>
              </a:ext>
            </a:extLst>
          </p:cNvPr>
          <p:cNvSpPr txBox="1">
            <a:spLocks noRot="1" noChangeArrowheads="1"/>
          </p:cNvSpPr>
          <p:nvPr/>
        </p:nvSpPr>
        <p:spPr>
          <a:xfrm>
            <a:off x="0" y="0"/>
            <a:ext cx="9144000" cy="340681"/>
          </a:xfrm>
          <a:prstGeom prst="rect">
            <a:avLst/>
          </a:prstGeom>
        </p:spPr>
        <p:txBody>
          <a:bodyPr anchor="ctr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ru-RU" altLang="ru-RU" sz="2600" b="1" dirty="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Актуальность работы</a:t>
            </a:r>
          </a:p>
        </p:txBody>
      </p:sp>
      <p:sp>
        <p:nvSpPr>
          <p:cNvPr id="6149" name="Rectangle 2">
            <a:extLst>
              <a:ext uri="{FF2B5EF4-FFF2-40B4-BE49-F238E27FC236}">
                <a16:creationId xmlns:a16="http://schemas.microsoft.com/office/drawing/2014/main" id="{1F73172F-1B85-4BAF-9E6D-3662377D7F57}"/>
              </a:ext>
            </a:extLst>
          </p:cNvPr>
          <p:cNvSpPr txBox="1">
            <a:spLocks noRot="1" noChangeArrowheads="1"/>
          </p:cNvSpPr>
          <p:nvPr/>
        </p:nvSpPr>
        <p:spPr bwMode="auto">
          <a:xfrm>
            <a:off x="34925" y="824123"/>
            <a:ext cx="9001571" cy="5540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285750" algn="just">
              <a:buNone/>
            </a:pPr>
            <a:r>
              <a:rPr lang="ru-RU" sz="1900" dirty="0">
                <a:latin typeface="Verdana" panose="020B0604030504040204" pitchFamily="34" charset="0"/>
                <a:ea typeface="Verdana" panose="020B0604030504040204" pitchFamily="34" charset="0"/>
              </a:rPr>
              <a:t>Современные промышленные производства являются </a:t>
            </a:r>
            <a:r>
              <a:rPr lang="ru-RU" sz="1900" dirty="0" err="1">
                <a:latin typeface="Verdana" panose="020B0604030504040204" pitchFamily="34" charset="0"/>
                <a:ea typeface="Verdana" panose="020B0604030504040204" pitchFamily="34" charset="0"/>
              </a:rPr>
              <a:t>многоассортиментными</a:t>
            </a:r>
            <a:r>
              <a:rPr lang="ru-RU" sz="1900" dirty="0">
                <a:latin typeface="Verdana" panose="020B0604030504040204" pitchFamily="34" charset="0"/>
                <a:ea typeface="Verdana" panose="020B0604030504040204" pitchFamily="34" charset="0"/>
              </a:rPr>
              <a:t>, предприятие АО «ХИМЭКС-2» выпускает более 100 типов продукции, требующих учета.</a:t>
            </a:r>
          </a:p>
          <a:p>
            <a:pPr marL="285750" algn="just">
              <a:buNone/>
            </a:pPr>
            <a:endParaRPr lang="ru-RU" sz="19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430213" algn="just"/>
            <a:r>
              <a:rPr lang="ru-RU" sz="1900" dirty="0">
                <a:latin typeface="Verdana" panose="020B0604030504040204" pitchFamily="34" charset="0"/>
                <a:ea typeface="Verdana" panose="020B0604030504040204" pitchFamily="34" charset="0"/>
              </a:rPr>
              <a:t>Наличие такой обширной номенклатуры продукции необходимо принимать во внимание, чтобы иметь возможность отслеживать состояние продукции и в кратчайшие сроки получать информацию о том или ином произведенном продукте. </a:t>
            </a:r>
          </a:p>
          <a:p>
            <a:pPr marL="285750" indent="430213" algn="just"/>
            <a:r>
              <a:rPr lang="ru-RU" sz="1900" dirty="0">
                <a:latin typeface="Verdana" panose="020B0604030504040204" pitchFamily="34" charset="0"/>
                <a:ea typeface="Verdana" panose="020B0604030504040204" pitchFamily="34" charset="0"/>
              </a:rPr>
              <a:t>Не каждый программный комплекс подойдет по функционалу для учета эпоксидных смол в силу ограниченности своего функционала или его избыточности.</a:t>
            </a:r>
          </a:p>
          <a:p>
            <a:pPr marL="285750" indent="430213" algn="just"/>
            <a:r>
              <a:rPr lang="ru-RU" sz="1900" dirty="0">
                <a:latin typeface="Verdana" panose="020B0604030504040204" pitchFamily="34" charset="0"/>
                <a:ea typeface="Verdana" panose="020B0604030504040204" pitchFamily="34" charset="0"/>
              </a:rPr>
              <a:t>Поэтому актуальной задачей является разработка специализированного программного комплекса, который позволит вести качественный учет продукции на производстве</a:t>
            </a:r>
            <a:r>
              <a:rPr lang="en-US" sz="1900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r>
              <a:rPr lang="ru-RU" sz="1900" dirty="0">
                <a:latin typeface="Verdana" panose="020B0604030504040204" pitchFamily="34" charset="0"/>
                <a:ea typeface="Verdana" panose="020B0604030504040204" pitchFamily="34" charset="0"/>
              </a:rPr>
              <a:t>	</a:t>
            </a:r>
            <a:endParaRPr lang="ru-RU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9" name="Picture 60" descr="znak">
            <a:extLst>
              <a:ext uri="{FF2B5EF4-FFF2-40B4-BE49-F238E27FC236}">
                <a16:creationId xmlns:a16="http://schemas.microsoft.com/office/drawing/2014/main" id="{379D1309-D08C-45A4-B020-B1466FF2A5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20738" cy="103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08" descr="Логотип_САПРиУ">
            <a:extLst>
              <a:ext uri="{FF2B5EF4-FFF2-40B4-BE49-F238E27FC236}">
                <a16:creationId xmlns:a16="http://schemas.microsoft.com/office/drawing/2014/main" id="{405D7469-722F-4D19-A661-795964EB6E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0" t="10747" r="34196" b="37616"/>
          <a:stretch>
            <a:fillRect/>
          </a:stretch>
        </p:blipFill>
        <p:spPr bwMode="auto">
          <a:xfrm>
            <a:off x="8448675" y="-6437"/>
            <a:ext cx="701675" cy="68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Рисунок 2" descr="int_2">
            <a:extLst>
              <a:ext uri="{FF2B5EF4-FFF2-40B4-BE49-F238E27FC236}">
                <a16:creationId xmlns:a16="http://schemas.microsoft.com/office/drawing/2014/main" id="{F4C7D13B-47FA-4915-9279-BFC3622D0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592" y="6222257"/>
            <a:ext cx="909779" cy="6254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9125193-E0DE-4F42-B338-EBA68C0463EC}"/>
              </a:ext>
            </a:extLst>
          </p:cNvPr>
          <p:cNvSpPr txBox="1"/>
          <p:nvPr/>
        </p:nvSpPr>
        <p:spPr>
          <a:xfrm>
            <a:off x="8213769" y="6321464"/>
            <a:ext cx="9097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rPr>
              <a:t>2/17</a:t>
            </a:r>
            <a:endParaRPr lang="en-US" sz="1800" b="1" i="0" u="none" strike="noStrike" cap="none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2">
            <a:extLst>
              <a:ext uri="{FF2B5EF4-FFF2-40B4-BE49-F238E27FC236}">
                <a16:creationId xmlns:a16="http://schemas.microsoft.com/office/drawing/2014/main" id="{F259C684-65C0-46C2-BC84-C7CFE3742987}"/>
              </a:ext>
            </a:extLst>
          </p:cNvPr>
          <p:cNvSpPr txBox="1">
            <a:spLocks noRot="1" noChangeArrowheads="1"/>
          </p:cNvSpPr>
          <p:nvPr/>
        </p:nvSpPr>
        <p:spPr>
          <a:xfrm>
            <a:off x="539750" y="6408738"/>
            <a:ext cx="7920038" cy="404812"/>
          </a:xfrm>
          <a:prstGeom prst="rect">
            <a:avLst/>
          </a:prstGeom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ru-RU" altLang="ru-RU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Программный комплекс для учета продукции предприятия по производству эпоксидных смол</a:t>
            </a:r>
            <a:endParaRPr lang="ru-RU" altLang="ru-RU" sz="1200" b="1" dirty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12C6544-F38A-4709-AC81-6745111096AE}"/>
              </a:ext>
            </a:extLst>
          </p:cNvPr>
          <p:cNvSpPr txBox="1">
            <a:spLocks noRot="1" noChangeArrowheads="1"/>
          </p:cNvSpPr>
          <p:nvPr/>
        </p:nvSpPr>
        <p:spPr>
          <a:xfrm>
            <a:off x="0" y="0"/>
            <a:ext cx="9144000" cy="427038"/>
          </a:xfrm>
          <a:prstGeom prst="rect">
            <a:avLst/>
          </a:prstGeom>
        </p:spPr>
        <p:txBody>
          <a:bodyPr anchor="ctr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ru-RU" altLang="ru-RU" sz="2600" b="1" dirty="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Цель и задачи работы</a:t>
            </a:r>
          </a:p>
        </p:txBody>
      </p:sp>
      <p:sp>
        <p:nvSpPr>
          <p:cNvPr id="6149" name="Rectangle 2">
            <a:extLst>
              <a:ext uri="{FF2B5EF4-FFF2-40B4-BE49-F238E27FC236}">
                <a16:creationId xmlns:a16="http://schemas.microsoft.com/office/drawing/2014/main" id="{1F73172F-1B85-4BAF-9E6D-3662377D7F57}"/>
              </a:ext>
            </a:extLst>
          </p:cNvPr>
          <p:cNvSpPr txBox="1">
            <a:spLocks noRot="1" noChangeArrowheads="1"/>
          </p:cNvSpPr>
          <p:nvPr/>
        </p:nvSpPr>
        <p:spPr bwMode="auto">
          <a:xfrm>
            <a:off x="0" y="433475"/>
            <a:ext cx="9178925" cy="605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None/>
            </a:pPr>
            <a:r>
              <a:rPr lang="ru-RU" sz="1800" dirty="0"/>
              <a:t>	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Целью работы является повышение эффективности процесса учета продукции предприятия по производству полимерных смол за счет разработки программного комплекса.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800"/>
              </a:spcAft>
              <a:buNone/>
            </a:pPr>
            <a:r>
              <a:rPr lang="en-US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	</a:t>
            </a: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Для достижения </a:t>
            </a: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цели </a:t>
            </a: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необходимо решить следующие задачи:</a:t>
            </a:r>
          </a:p>
          <a:p>
            <a:pPr>
              <a:spcAft>
                <a:spcPts val="800"/>
              </a:spcAft>
              <a:buNone/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1</a:t>
            </a:r>
            <a:r>
              <a:rPr lang="en-US" sz="180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) </a:t>
            </a: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разработка функциональной структуры программного комплекса</a:t>
            </a:r>
            <a:r>
              <a:rPr lang="en-US" sz="180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;</a:t>
            </a:r>
            <a:endParaRPr lang="ru-RU" sz="18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buNone/>
            </a:pP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2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) </a:t>
            </a: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формирование информационного обеспечения программного комплекса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;</a:t>
            </a:r>
            <a:endParaRPr lang="ru-RU" sz="18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buNone/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3</a:t>
            </a:r>
            <a:r>
              <a:rPr lang="en-US" sz="180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) </a:t>
            </a: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разработка алгоритма функционирования программного комплекса;</a:t>
            </a:r>
          </a:p>
          <a:p>
            <a:pPr>
              <a:spcAft>
                <a:spcPts val="800"/>
              </a:spcAft>
              <a:buNone/>
            </a:pP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4</a:t>
            </a:r>
            <a:r>
              <a:rPr lang="en-US" sz="180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) </a:t>
            </a:r>
            <a:r>
              <a:rPr lang="ru-RU" sz="180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разработка интерфейсов пользователей программного комплекса (администратора базы данных и сотрудника склада);</a:t>
            </a:r>
            <a:endParaRPr lang="ru-RU" sz="18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buNone/>
            </a:pP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5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) </a:t>
            </a:r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тестирование программного комплекса.</a:t>
            </a:r>
            <a:endParaRPr lang="ru-RU" sz="18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ru-RU" sz="1800" dirty="0"/>
          </a:p>
        </p:txBody>
      </p:sp>
      <p:pic>
        <p:nvPicPr>
          <p:cNvPr id="6150" name="Picture 60" descr="znak">
            <a:extLst>
              <a:ext uri="{FF2B5EF4-FFF2-40B4-BE49-F238E27FC236}">
                <a16:creationId xmlns:a16="http://schemas.microsoft.com/office/drawing/2014/main" id="{24DEF2A3-818D-4D29-8F41-A529E285A2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2" y="0"/>
            <a:ext cx="601663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60" descr="znak">
            <a:extLst>
              <a:ext uri="{FF2B5EF4-FFF2-40B4-BE49-F238E27FC236}">
                <a16:creationId xmlns:a16="http://schemas.microsoft.com/office/drawing/2014/main" id="{9DD0A1F9-906D-4D0E-9E52-64FF9A6DAD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" y="3175"/>
            <a:ext cx="820738" cy="103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08" descr="Логотип_САПРиУ">
            <a:extLst>
              <a:ext uri="{FF2B5EF4-FFF2-40B4-BE49-F238E27FC236}">
                <a16:creationId xmlns:a16="http://schemas.microsoft.com/office/drawing/2014/main" id="{DC3DD4DF-45B0-4405-BA45-9D566426B8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0" t="10747" r="34196" b="37616"/>
          <a:stretch>
            <a:fillRect/>
          </a:stretch>
        </p:blipFill>
        <p:spPr bwMode="auto">
          <a:xfrm>
            <a:off x="8448675" y="-6437"/>
            <a:ext cx="701675" cy="68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Рисунок 2" descr="int_2">
            <a:extLst>
              <a:ext uri="{FF2B5EF4-FFF2-40B4-BE49-F238E27FC236}">
                <a16:creationId xmlns:a16="http://schemas.microsoft.com/office/drawing/2014/main" id="{4E2C1EE9-DD75-461B-91FF-B0E60DE99A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592" y="6222257"/>
            <a:ext cx="909779" cy="6254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B64FF91-0630-4732-B955-0808E2C114D4}"/>
              </a:ext>
            </a:extLst>
          </p:cNvPr>
          <p:cNvSpPr txBox="1"/>
          <p:nvPr/>
        </p:nvSpPr>
        <p:spPr>
          <a:xfrm>
            <a:off x="8213769" y="6321464"/>
            <a:ext cx="9097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b="1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rPr>
              <a:t>3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rPr>
              <a:t>/17</a:t>
            </a:r>
            <a:endParaRPr lang="en-US" sz="1800" b="1" i="0" u="none" strike="noStrike" cap="none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54914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2">
            <a:extLst>
              <a:ext uri="{FF2B5EF4-FFF2-40B4-BE49-F238E27FC236}">
                <a16:creationId xmlns:a16="http://schemas.microsoft.com/office/drawing/2014/main" id="{F259C684-65C0-46C2-BC84-C7CFE3742987}"/>
              </a:ext>
            </a:extLst>
          </p:cNvPr>
          <p:cNvSpPr txBox="1">
            <a:spLocks noRot="1" noChangeArrowheads="1"/>
          </p:cNvSpPr>
          <p:nvPr/>
        </p:nvSpPr>
        <p:spPr>
          <a:xfrm>
            <a:off x="539750" y="6408738"/>
            <a:ext cx="7920038" cy="404812"/>
          </a:xfrm>
          <a:prstGeom prst="rect">
            <a:avLst/>
          </a:prstGeom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ru-RU" altLang="ru-RU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Программный комплекс для учета продукции предприятия по производству эпоксидных смол</a:t>
            </a:r>
            <a:endParaRPr lang="ru-RU" altLang="ru-RU" sz="1200" b="1" dirty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defRPr/>
            </a:pPr>
            <a:endParaRPr lang="ru-RU" altLang="ru-RU" sz="1200" b="1" dirty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12C6544-F38A-4709-AC81-6745111096AE}"/>
              </a:ext>
            </a:extLst>
          </p:cNvPr>
          <p:cNvSpPr txBox="1">
            <a:spLocks noRot="1" noChangeArrowheads="1"/>
          </p:cNvSpPr>
          <p:nvPr/>
        </p:nvSpPr>
        <p:spPr>
          <a:xfrm>
            <a:off x="749661" y="508121"/>
            <a:ext cx="7776442" cy="688975"/>
          </a:xfrm>
          <a:prstGeom prst="rect">
            <a:avLst/>
          </a:prstGeom>
        </p:spPr>
        <p:txBody>
          <a:bodyPr anchor="ctr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ru-RU" altLang="ru-RU" sz="2600" b="1" dirty="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Формализованное описание процедуры учета готовой продукции</a:t>
            </a:r>
          </a:p>
        </p:txBody>
      </p:sp>
      <p:pic>
        <p:nvPicPr>
          <p:cNvPr id="6150" name="Picture 60" descr="znak">
            <a:extLst>
              <a:ext uri="{FF2B5EF4-FFF2-40B4-BE49-F238E27FC236}">
                <a16:creationId xmlns:a16="http://schemas.microsoft.com/office/drawing/2014/main" id="{24DEF2A3-818D-4D29-8F41-A529E285A2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01663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9572F05-F4EA-4A9E-89A1-5F440B9F7504}"/>
              </a:ext>
            </a:extLst>
          </p:cNvPr>
          <p:cNvSpPr txBox="1"/>
          <p:nvPr/>
        </p:nvSpPr>
        <p:spPr>
          <a:xfrm>
            <a:off x="4936195" y="2518254"/>
            <a:ext cx="4214155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dirty="0">
                <a:latin typeface="Verdana" panose="020B0604030504040204" pitchFamily="34" charset="0"/>
                <a:ea typeface="Verdana" panose="020B0604030504040204" pitchFamily="34" charset="0"/>
              </a:rPr>
              <a:t>Выходные переменные:</a:t>
            </a:r>
          </a:p>
          <a:p>
            <a:r>
              <a:rPr lang="en-US" sz="1500" i="1" dirty="0">
                <a:latin typeface="Verdana" panose="020B0604030504040204" pitchFamily="34" charset="0"/>
                <a:ea typeface="Verdana" panose="020B0604030504040204" pitchFamily="34" charset="0"/>
              </a:rPr>
              <a:t>Y</a:t>
            </a:r>
            <a:r>
              <a:rPr lang="ru-RU" sz="1500" i="1" dirty="0">
                <a:latin typeface="Verdana" panose="020B0604030504040204" pitchFamily="34" charset="0"/>
                <a:ea typeface="Verdana" panose="020B0604030504040204" pitchFamily="34" charset="0"/>
              </a:rPr>
              <a:t> = {</a:t>
            </a:r>
            <a:r>
              <a:rPr lang="en-US" sz="1500" i="1" dirty="0">
                <a:latin typeface="Verdana" panose="020B0604030504040204" pitchFamily="34" charset="0"/>
                <a:ea typeface="Verdana" panose="020B0604030504040204" pitchFamily="34" charset="0"/>
              </a:rPr>
              <a:t>Doc</a:t>
            </a:r>
            <a:r>
              <a:rPr lang="ru-RU" sz="1500" i="1" dirty="0">
                <a:latin typeface="Verdana" panose="020B0604030504040204" pitchFamily="34" charset="0"/>
                <a:ea typeface="Verdana" panose="020B0604030504040204" pitchFamily="34" charset="0"/>
              </a:rPr>
              <a:t>}</a:t>
            </a:r>
            <a:r>
              <a:rPr lang="ru-RU" sz="1500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</a:p>
          <a:p>
            <a:r>
              <a:rPr lang="en-US" sz="1500" dirty="0">
                <a:latin typeface="Verdana" panose="020B0604030504040204" pitchFamily="34" charset="0"/>
                <a:ea typeface="Verdana" panose="020B0604030504040204" pitchFamily="34" charset="0"/>
              </a:rPr>
              <a:t>Doc</a:t>
            </a:r>
            <a:r>
              <a:rPr lang="ru-RU" sz="1500" dirty="0">
                <a:latin typeface="Verdana" panose="020B0604030504040204" pitchFamily="34" charset="0"/>
                <a:ea typeface="Verdana" panose="020B0604030504040204" pitchFamily="34" charset="0"/>
              </a:rPr>
              <a:t>– документ.                            </a:t>
            </a:r>
          </a:p>
        </p:txBody>
      </p:sp>
      <p:pic>
        <p:nvPicPr>
          <p:cNvPr id="16" name="Picture 60" descr="znak">
            <a:extLst>
              <a:ext uri="{FF2B5EF4-FFF2-40B4-BE49-F238E27FC236}">
                <a16:creationId xmlns:a16="http://schemas.microsoft.com/office/drawing/2014/main" id="{4C070E43-F8E8-4455-BBCB-6C3BCE6D47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" y="3175"/>
            <a:ext cx="820738" cy="103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108" descr="Логотип_САПРиУ">
            <a:extLst>
              <a:ext uri="{FF2B5EF4-FFF2-40B4-BE49-F238E27FC236}">
                <a16:creationId xmlns:a16="http://schemas.microsoft.com/office/drawing/2014/main" id="{F7F0371D-EF0B-44CC-B7DE-FC2DC75BA1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0" t="10747" r="34196" b="37616"/>
          <a:stretch>
            <a:fillRect/>
          </a:stretch>
        </p:blipFill>
        <p:spPr bwMode="auto">
          <a:xfrm>
            <a:off x="8448675" y="-6437"/>
            <a:ext cx="701675" cy="68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Рисунок 2" descr="int_2">
            <a:extLst>
              <a:ext uri="{FF2B5EF4-FFF2-40B4-BE49-F238E27FC236}">
                <a16:creationId xmlns:a16="http://schemas.microsoft.com/office/drawing/2014/main" id="{A8E17950-015E-4BF5-8869-879DBFC35E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592" y="6222257"/>
            <a:ext cx="909779" cy="6254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8E1DCDA-1D62-4B18-B7C4-590D702E6900}"/>
              </a:ext>
            </a:extLst>
          </p:cNvPr>
          <p:cNvSpPr txBox="1"/>
          <p:nvPr/>
        </p:nvSpPr>
        <p:spPr>
          <a:xfrm>
            <a:off x="8213769" y="6321464"/>
            <a:ext cx="9097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b="1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rPr>
              <a:t>4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rPr>
              <a:t>/17</a:t>
            </a:r>
            <a:endParaRPr lang="en-US" sz="1800" b="1" i="0" u="none" strike="noStrike" cap="none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Arial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04A504-A635-4728-A6CB-5C57E8CE058F}"/>
              </a:ext>
            </a:extLst>
          </p:cNvPr>
          <p:cNvSpPr txBox="1"/>
          <p:nvPr/>
        </p:nvSpPr>
        <p:spPr>
          <a:xfrm>
            <a:off x="17409" y="4643862"/>
            <a:ext cx="8875072" cy="1523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50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На основе формализованного описания сформулирована задача разработк</a:t>
            </a:r>
            <a:r>
              <a:rPr lang="ru-RU" sz="1500" dirty="0">
                <a:latin typeface="Verdana" panose="020B0604030504040204" pitchFamily="34" charset="0"/>
                <a:ea typeface="Verdana" panose="020B0604030504040204" pitchFamily="34" charset="0"/>
              </a:rPr>
              <a:t>и программного комплекса</a:t>
            </a:r>
            <a:r>
              <a:rPr lang="ru-RU" sz="150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, которая заключается в следующем:</a:t>
            </a:r>
          </a:p>
          <a:p>
            <a:pPr indent="450215" algn="just">
              <a:lnSpc>
                <a:spcPct val="150000"/>
              </a:lnSpc>
            </a:pPr>
            <a:r>
              <a:rPr lang="ru-RU" sz="150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Для заданного вектора входных переменных </a:t>
            </a:r>
            <a:r>
              <a:rPr lang="ru-RU" sz="1500" i="1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X = (D, P, M, Q, С, </a:t>
            </a:r>
            <a:r>
              <a:rPr lang="ru-RU" sz="1500" i="1" dirty="0" err="1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Qn</a:t>
            </a:r>
            <a:r>
              <a:rPr lang="en-US" sz="1500" i="1" dirty="0">
                <a:latin typeface="Verdana" panose="020B0604030504040204" pitchFamily="34" charset="0"/>
                <a:ea typeface="Verdana" panose="020B0604030504040204" pitchFamily="34" charset="0"/>
              </a:rPr>
              <a:t>, T) </a:t>
            </a:r>
            <a:r>
              <a:rPr lang="ru-RU" sz="150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необходимо сформировать и получить вектор выходных переменных </a:t>
            </a:r>
            <a:r>
              <a:rPr lang="ru-RU" sz="1500" i="1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Y = {</a:t>
            </a:r>
            <a:r>
              <a:rPr lang="ru-RU" sz="1500" i="1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Doc</a:t>
            </a:r>
            <a:r>
              <a:rPr lang="ru-RU" sz="1500" i="1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}</a:t>
            </a:r>
            <a:r>
              <a:rPr lang="ru-RU" sz="150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9E20A66-A97A-48BD-A400-6A0ED7A4A62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432" y="1422879"/>
            <a:ext cx="8201025" cy="109537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4C7A745-6F31-4914-A5A7-9465347E58DD}"/>
              </a:ext>
            </a:extLst>
          </p:cNvPr>
          <p:cNvSpPr txBox="1"/>
          <p:nvPr/>
        </p:nvSpPr>
        <p:spPr>
          <a:xfrm>
            <a:off x="107504" y="2518254"/>
            <a:ext cx="4214154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500" dirty="0">
                <a:latin typeface="Verdana" panose="020B0604030504040204" pitchFamily="34" charset="0"/>
                <a:ea typeface="Verdana" panose="020B0604030504040204" pitchFamily="34" charset="0"/>
              </a:rPr>
              <a:t>Входные переменные:</a:t>
            </a:r>
          </a:p>
          <a:p>
            <a:r>
              <a:rPr lang="en-US" sz="1500" i="1" dirty="0">
                <a:latin typeface="Verdana" panose="020B0604030504040204" pitchFamily="34" charset="0"/>
                <a:ea typeface="Verdana" panose="020B0604030504040204" pitchFamily="34" charset="0"/>
              </a:rPr>
              <a:t>X</a:t>
            </a:r>
            <a:r>
              <a:rPr lang="ru-RU" sz="1500" i="1" dirty="0">
                <a:latin typeface="Verdana" panose="020B0604030504040204" pitchFamily="34" charset="0"/>
                <a:ea typeface="Verdana" panose="020B0604030504040204" pitchFamily="34" charset="0"/>
              </a:rPr>
              <a:t> = {</a:t>
            </a:r>
            <a:r>
              <a:rPr lang="en-US" sz="1500" i="1" dirty="0">
                <a:latin typeface="Verdana" panose="020B0604030504040204" pitchFamily="34" charset="0"/>
                <a:ea typeface="Verdana" panose="020B0604030504040204" pitchFamily="34" charset="0"/>
              </a:rPr>
              <a:t>D, P, M, Q, C, </a:t>
            </a:r>
            <a:r>
              <a:rPr lang="en-US" sz="1500" i="1" dirty="0" err="1">
                <a:latin typeface="Verdana" panose="020B0604030504040204" pitchFamily="34" charset="0"/>
                <a:ea typeface="Verdana" panose="020B0604030504040204" pitchFamily="34" charset="0"/>
              </a:rPr>
              <a:t>Qn</a:t>
            </a:r>
            <a:r>
              <a:rPr lang="ru-RU" sz="1500" i="1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en-US" sz="1500" i="1" dirty="0">
                <a:latin typeface="Verdana" panose="020B0604030504040204" pitchFamily="34" charset="0"/>
                <a:ea typeface="Verdana" panose="020B0604030504040204" pitchFamily="34" charset="0"/>
              </a:rPr>
              <a:t>T</a:t>
            </a:r>
            <a:r>
              <a:rPr lang="ru-RU" sz="1500" i="1" dirty="0">
                <a:latin typeface="Verdana" panose="020B0604030504040204" pitchFamily="34" charset="0"/>
                <a:ea typeface="Verdana" panose="020B0604030504040204" pitchFamily="34" charset="0"/>
              </a:rPr>
              <a:t>}</a:t>
            </a:r>
            <a:r>
              <a:rPr lang="en-US" sz="1500" i="1" dirty="0">
                <a:latin typeface="Verdana" panose="020B0604030504040204" pitchFamily="34" charset="0"/>
                <a:ea typeface="Verdana" panose="020B0604030504040204" pitchFamily="34" charset="0"/>
              </a:rPr>
              <a:t>,</a:t>
            </a:r>
          </a:p>
          <a:p>
            <a:r>
              <a:rPr lang="en-US" sz="1500" i="1" dirty="0">
                <a:latin typeface="Verdana" panose="020B0604030504040204" pitchFamily="34" charset="0"/>
                <a:ea typeface="Verdana" panose="020B0604030504040204" pitchFamily="34" charset="0"/>
              </a:rPr>
              <a:t>D</a:t>
            </a:r>
            <a:r>
              <a:rPr lang="en-US" sz="15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500" dirty="0">
                <a:latin typeface="Verdana" panose="020B0604030504040204" pitchFamily="34" charset="0"/>
                <a:ea typeface="Verdana" panose="020B0604030504040204" pitchFamily="34" charset="0"/>
              </a:rPr>
              <a:t>–</a:t>
            </a:r>
            <a:r>
              <a:rPr lang="en-US" sz="15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500" dirty="0">
                <a:latin typeface="Verdana" panose="020B0604030504040204" pitchFamily="34" charset="0"/>
                <a:ea typeface="Verdana" panose="020B0604030504040204" pitchFamily="34" charset="0"/>
              </a:rPr>
              <a:t>дата</a:t>
            </a:r>
            <a:r>
              <a:rPr lang="en-US" sz="1500" dirty="0">
                <a:latin typeface="Verdana" panose="020B0604030504040204" pitchFamily="34" charset="0"/>
                <a:ea typeface="Verdana" panose="020B0604030504040204" pitchFamily="34" charset="0"/>
              </a:rPr>
              <a:t>;</a:t>
            </a:r>
          </a:p>
          <a:p>
            <a:r>
              <a:rPr lang="en-US" sz="1500" i="1" dirty="0">
                <a:latin typeface="Verdana" panose="020B0604030504040204" pitchFamily="34" charset="0"/>
                <a:ea typeface="Verdana" panose="020B0604030504040204" pitchFamily="34" charset="0"/>
              </a:rPr>
              <a:t>P</a:t>
            </a:r>
            <a:r>
              <a:rPr lang="en-US" sz="15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500" dirty="0">
                <a:latin typeface="Verdana" panose="020B0604030504040204" pitchFamily="34" charset="0"/>
                <a:ea typeface="Verdana" panose="020B0604030504040204" pitchFamily="34" charset="0"/>
              </a:rPr>
              <a:t>– номер партии</a:t>
            </a:r>
            <a:r>
              <a:rPr lang="en-US" sz="1500" dirty="0">
                <a:latin typeface="Verdana" panose="020B0604030504040204" pitchFamily="34" charset="0"/>
                <a:ea typeface="Verdana" panose="020B0604030504040204" pitchFamily="34" charset="0"/>
              </a:rPr>
              <a:t>;</a:t>
            </a:r>
          </a:p>
          <a:p>
            <a:r>
              <a:rPr lang="en-US" sz="1500" i="1" dirty="0">
                <a:latin typeface="Verdana" panose="020B0604030504040204" pitchFamily="34" charset="0"/>
                <a:ea typeface="Verdana" panose="020B0604030504040204" pitchFamily="34" charset="0"/>
              </a:rPr>
              <a:t>M</a:t>
            </a:r>
            <a:r>
              <a:rPr lang="ru-RU" sz="1500" dirty="0">
                <a:latin typeface="Verdana" panose="020B0604030504040204" pitchFamily="34" charset="0"/>
                <a:ea typeface="Verdana" panose="020B0604030504040204" pitchFamily="34" charset="0"/>
              </a:rPr>
              <a:t> – марка продукции</a:t>
            </a:r>
            <a:r>
              <a:rPr lang="en-US" sz="1500" dirty="0">
                <a:latin typeface="Verdana" panose="020B0604030504040204" pitchFamily="34" charset="0"/>
                <a:ea typeface="Verdana" panose="020B0604030504040204" pitchFamily="34" charset="0"/>
              </a:rPr>
              <a:t>;</a:t>
            </a:r>
          </a:p>
          <a:p>
            <a:r>
              <a:rPr lang="en-US" sz="1500" i="1" dirty="0">
                <a:latin typeface="Verdana" panose="020B0604030504040204" pitchFamily="34" charset="0"/>
                <a:ea typeface="Verdana" panose="020B0604030504040204" pitchFamily="34" charset="0"/>
              </a:rPr>
              <a:t>Q</a:t>
            </a:r>
            <a:r>
              <a:rPr lang="ru-RU" sz="1500" dirty="0">
                <a:latin typeface="Verdana" panose="020B0604030504040204" pitchFamily="34" charset="0"/>
                <a:ea typeface="Verdana" panose="020B0604030504040204" pitchFamily="34" charset="0"/>
              </a:rPr>
              <a:t> – качество</a:t>
            </a:r>
            <a:r>
              <a:rPr lang="en-US" sz="1500" dirty="0">
                <a:latin typeface="Verdana" panose="020B0604030504040204" pitchFamily="34" charset="0"/>
                <a:ea typeface="Verdana" panose="020B0604030504040204" pitchFamily="34" charset="0"/>
              </a:rPr>
              <a:t>;</a:t>
            </a:r>
          </a:p>
          <a:p>
            <a:r>
              <a:rPr lang="en-US" sz="1500" dirty="0">
                <a:latin typeface="Verdana" panose="020B0604030504040204" pitchFamily="34" charset="0"/>
                <a:ea typeface="Verdana" panose="020B0604030504040204" pitchFamily="34" charset="0"/>
              </a:rPr>
              <a:t>C</a:t>
            </a:r>
            <a:r>
              <a:rPr lang="ru-RU" sz="1500" dirty="0">
                <a:latin typeface="Verdana" panose="020B0604030504040204" pitchFamily="34" charset="0"/>
                <a:ea typeface="Verdana" panose="020B0604030504040204" pitchFamily="34" charset="0"/>
              </a:rPr>
              <a:t> – тара</a:t>
            </a:r>
            <a:r>
              <a:rPr lang="en-US" sz="1500" dirty="0">
                <a:latin typeface="Verdana" panose="020B0604030504040204" pitchFamily="34" charset="0"/>
                <a:ea typeface="Verdana" panose="020B0604030504040204" pitchFamily="34" charset="0"/>
              </a:rPr>
              <a:t>;</a:t>
            </a:r>
          </a:p>
          <a:p>
            <a:r>
              <a:rPr lang="en-US" sz="1500" i="1" dirty="0" err="1">
                <a:latin typeface="Verdana" panose="020B0604030504040204" pitchFamily="34" charset="0"/>
                <a:ea typeface="Verdana" panose="020B0604030504040204" pitchFamily="34" charset="0"/>
              </a:rPr>
              <a:t>Qn</a:t>
            </a:r>
            <a:r>
              <a:rPr lang="en-US" sz="15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500" dirty="0">
                <a:latin typeface="Verdana" panose="020B0604030504040204" pitchFamily="34" charset="0"/>
                <a:ea typeface="Verdana" panose="020B0604030504040204" pitchFamily="34" charset="0"/>
              </a:rPr>
              <a:t>– количество,</a:t>
            </a:r>
            <a:endParaRPr lang="en-US" sz="15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1500" i="1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</a:t>
            </a:r>
            <a:r>
              <a:rPr lang="en-US" sz="150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500" dirty="0">
                <a:latin typeface="Verdana" panose="020B0604030504040204" pitchFamily="34" charset="0"/>
                <a:ea typeface="Verdana" panose="020B0604030504040204" pitchFamily="34" charset="0"/>
              </a:rPr>
              <a:t>–</a:t>
            </a:r>
            <a:r>
              <a:rPr lang="en-US" sz="15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1500" dirty="0">
                <a:latin typeface="Verdana" panose="020B0604030504040204" pitchFamily="34" charset="0"/>
                <a:ea typeface="Verdana" panose="020B0604030504040204" pitchFamily="34" charset="0"/>
              </a:rPr>
              <a:t>тип документа.</a:t>
            </a:r>
          </a:p>
        </p:txBody>
      </p:sp>
    </p:spTree>
    <p:extLst>
      <p:ext uri="{BB962C8B-B14F-4D97-AF65-F5344CB8AC3E}">
        <p14:creationId xmlns:p14="http://schemas.microsoft.com/office/powerpoint/2010/main" val="2172024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2">
            <a:extLst>
              <a:ext uri="{FF2B5EF4-FFF2-40B4-BE49-F238E27FC236}">
                <a16:creationId xmlns:a16="http://schemas.microsoft.com/office/drawing/2014/main" id="{F259C684-65C0-46C2-BC84-C7CFE3742987}"/>
              </a:ext>
            </a:extLst>
          </p:cNvPr>
          <p:cNvSpPr txBox="1">
            <a:spLocks noRot="1" noChangeArrowheads="1"/>
          </p:cNvSpPr>
          <p:nvPr/>
        </p:nvSpPr>
        <p:spPr>
          <a:xfrm>
            <a:off x="539750" y="6408738"/>
            <a:ext cx="7920038" cy="404812"/>
          </a:xfrm>
          <a:prstGeom prst="rect">
            <a:avLst/>
          </a:prstGeom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ru-RU" altLang="ru-RU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Программный комплекс для учета продукции предприятия по производству эпоксидных смол</a:t>
            </a:r>
            <a:endParaRPr lang="ru-RU" altLang="ru-RU" sz="1200" b="1" dirty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defRPr/>
            </a:pPr>
            <a:endParaRPr lang="ru-RU" altLang="ru-RU" sz="1200" b="1" dirty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50" name="Picture 60" descr="znak">
            <a:extLst>
              <a:ext uri="{FF2B5EF4-FFF2-40B4-BE49-F238E27FC236}">
                <a16:creationId xmlns:a16="http://schemas.microsoft.com/office/drawing/2014/main" id="{24DEF2A3-818D-4D29-8F41-A529E285A2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01663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312C6544-F38A-4709-AC81-6745111096AE}"/>
              </a:ext>
            </a:extLst>
          </p:cNvPr>
          <p:cNvSpPr txBox="1">
            <a:spLocks noRot="1" noChangeArrowheads="1"/>
          </p:cNvSpPr>
          <p:nvPr/>
        </p:nvSpPr>
        <p:spPr>
          <a:xfrm>
            <a:off x="683568" y="0"/>
            <a:ext cx="7990532" cy="762000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ru-RU" altLang="ru-RU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Функциональная структура программного комплекса</a:t>
            </a:r>
          </a:p>
        </p:txBody>
      </p:sp>
      <p:pic>
        <p:nvPicPr>
          <p:cNvPr id="10" name="Picture 60" descr="znak">
            <a:extLst>
              <a:ext uri="{FF2B5EF4-FFF2-40B4-BE49-F238E27FC236}">
                <a16:creationId xmlns:a16="http://schemas.microsoft.com/office/drawing/2014/main" id="{A8E38223-2D21-43A1-A7E9-7AC350D9E9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" y="3175"/>
            <a:ext cx="820738" cy="103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8" descr="Логотип_САПРиУ">
            <a:extLst>
              <a:ext uri="{FF2B5EF4-FFF2-40B4-BE49-F238E27FC236}">
                <a16:creationId xmlns:a16="http://schemas.microsoft.com/office/drawing/2014/main" id="{0693EC55-5DD5-40AA-98C8-F979EADC2C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0" t="10747" r="34196" b="37616"/>
          <a:stretch>
            <a:fillRect/>
          </a:stretch>
        </p:blipFill>
        <p:spPr bwMode="auto">
          <a:xfrm>
            <a:off x="8448675" y="-6437"/>
            <a:ext cx="701675" cy="68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Рисунок 2" descr="int_2">
            <a:extLst>
              <a:ext uri="{FF2B5EF4-FFF2-40B4-BE49-F238E27FC236}">
                <a16:creationId xmlns:a16="http://schemas.microsoft.com/office/drawing/2014/main" id="{F697526D-7A71-4FA2-901D-7CAEBCF615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592" y="6222257"/>
            <a:ext cx="909779" cy="6254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42B7D71-9713-490E-84DB-74644F47D3A7}"/>
              </a:ext>
            </a:extLst>
          </p:cNvPr>
          <p:cNvSpPr txBox="1"/>
          <p:nvPr/>
        </p:nvSpPr>
        <p:spPr>
          <a:xfrm>
            <a:off x="8213769" y="6321464"/>
            <a:ext cx="9097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b="1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rPr>
              <a:t>5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rPr>
              <a:t>/17</a:t>
            </a:r>
            <a:endParaRPr lang="en-US" sz="1800" b="1" i="0" u="none" strike="noStrike" cap="none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Arial"/>
              <a:sym typeface="Arial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D386C8A-E5F4-4EA2-80D2-16ED61ED258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212" y="948481"/>
            <a:ext cx="7267575" cy="5273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8974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2">
            <a:extLst>
              <a:ext uri="{FF2B5EF4-FFF2-40B4-BE49-F238E27FC236}">
                <a16:creationId xmlns:a16="http://schemas.microsoft.com/office/drawing/2014/main" id="{F259C684-65C0-46C2-BC84-C7CFE3742987}"/>
              </a:ext>
            </a:extLst>
          </p:cNvPr>
          <p:cNvSpPr txBox="1">
            <a:spLocks noRot="1" noChangeArrowheads="1"/>
          </p:cNvSpPr>
          <p:nvPr/>
        </p:nvSpPr>
        <p:spPr>
          <a:xfrm>
            <a:off x="539750" y="6408738"/>
            <a:ext cx="7920038" cy="404812"/>
          </a:xfrm>
          <a:prstGeom prst="rect">
            <a:avLst/>
          </a:prstGeom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ru-RU" altLang="ru-RU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Программный комплекс для учета продукции предприятия по производству эпоксидных смол</a:t>
            </a:r>
            <a:endParaRPr lang="ru-RU" altLang="ru-RU" sz="1200" b="1" dirty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12C6544-F38A-4709-AC81-6745111096AE}"/>
              </a:ext>
            </a:extLst>
          </p:cNvPr>
          <p:cNvSpPr txBox="1">
            <a:spLocks noRot="1" noChangeArrowheads="1"/>
          </p:cNvSpPr>
          <p:nvPr/>
        </p:nvSpPr>
        <p:spPr>
          <a:xfrm>
            <a:off x="608013" y="0"/>
            <a:ext cx="8015385" cy="449262"/>
          </a:xfrm>
          <a:prstGeom prst="rect">
            <a:avLst/>
          </a:prstGeom>
        </p:spPr>
        <p:txBody>
          <a:bodyPr anchor="ctr">
            <a:normAutofit fontScale="92500" lnSpcReduction="10000"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ru-RU" altLang="ru-RU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Блок-схема алгоритма работы системы</a:t>
            </a:r>
          </a:p>
        </p:txBody>
      </p:sp>
      <p:pic>
        <p:nvPicPr>
          <p:cNvPr id="6150" name="Picture 60" descr="znak">
            <a:extLst>
              <a:ext uri="{FF2B5EF4-FFF2-40B4-BE49-F238E27FC236}">
                <a16:creationId xmlns:a16="http://schemas.microsoft.com/office/drawing/2014/main" id="{24DEF2A3-818D-4D29-8F41-A529E285A2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01663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60" descr="znak">
            <a:extLst>
              <a:ext uri="{FF2B5EF4-FFF2-40B4-BE49-F238E27FC236}">
                <a16:creationId xmlns:a16="http://schemas.microsoft.com/office/drawing/2014/main" id="{2AE96171-63EB-4F9A-92B4-D70B4696EB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" y="3175"/>
            <a:ext cx="820738" cy="103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08" descr="Логотип_САПРиУ">
            <a:extLst>
              <a:ext uri="{FF2B5EF4-FFF2-40B4-BE49-F238E27FC236}">
                <a16:creationId xmlns:a16="http://schemas.microsoft.com/office/drawing/2014/main" id="{9B2ADF9C-7BA2-41DA-91AA-33D6A3B531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0" t="10747" r="34196" b="37616"/>
          <a:stretch>
            <a:fillRect/>
          </a:stretch>
        </p:blipFill>
        <p:spPr bwMode="auto">
          <a:xfrm>
            <a:off x="8448675" y="-6437"/>
            <a:ext cx="701675" cy="68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Рисунок 2" descr="int_2">
            <a:extLst>
              <a:ext uri="{FF2B5EF4-FFF2-40B4-BE49-F238E27FC236}">
                <a16:creationId xmlns:a16="http://schemas.microsoft.com/office/drawing/2014/main" id="{ED70C8DB-C09B-47EA-993A-C0CC454B17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592" y="6222257"/>
            <a:ext cx="909779" cy="6254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CE23EE6-2A88-439A-925D-F20E2B6FD78B}"/>
              </a:ext>
            </a:extLst>
          </p:cNvPr>
          <p:cNvSpPr txBox="1"/>
          <p:nvPr/>
        </p:nvSpPr>
        <p:spPr>
          <a:xfrm>
            <a:off x="8213769" y="6321464"/>
            <a:ext cx="9097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b="1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rPr>
              <a:t>6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rPr>
              <a:t>/17</a:t>
            </a:r>
            <a:endParaRPr lang="en-US" sz="1800" b="1" i="0" u="none" strike="noStrike" cap="none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Arial"/>
              <a:sym typeface="Arial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ADDFB13-C7BA-47D9-AC35-3CFBC4DA6CD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034" y="682538"/>
            <a:ext cx="7913932" cy="5604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330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5658AB-215C-42B2-9363-9B15424F0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762" y="22523"/>
            <a:ext cx="7765678" cy="739477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altLang="ru-RU" sz="2600" b="1" dirty="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UML-</a:t>
            </a:r>
            <a:r>
              <a:rPr lang="ru-RU" altLang="ru-RU" sz="2600" b="1" dirty="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диаграммы прецедентов использования программного комплекса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4EF39DA9-CE3C-4A33-B6D8-DF8935948829}"/>
              </a:ext>
            </a:extLst>
          </p:cNvPr>
          <p:cNvSpPr txBox="1">
            <a:spLocks noRot="1" noChangeArrowheads="1"/>
          </p:cNvSpPr>
          <p:nvPr/>
        </p:nvSpPr>
        <p:spPr>
          <a:xfrm>
            <a:off x="539750" y="6408738"/>
            <a:ext cx="7920038" cy="404812"/>
          </a:xfrm>
          <a:prstGeom prst="rect">
            <a:avLst/>
          </a:prstGeom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ru-RU" altLang="ru-RU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Программный комплекс для учета продукции предприятия по производству эпоксидных смол</a:t>
            </a:r>
            <a:endParaRPr lang="ru-RU" altLang="ru-RU" sz="1200" b="1" dirty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60" descr="znak">
            <a:extLst>
              <a:ext uri="{FF2B5EF4-FFF2-40B4-BE49-F238E27FC236}">
                <a16:creationId xmlns:a16="http://schemas.microsoft.com/office/drawing/2014/main" id="{AB737FEC-60CB-46A1-8C6C-A372E23E3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" y="0"/>
            <a:ext cx="601663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60" descr="znak">
            <a:extLst>
              <a:ext uri="{FF2B5EF4-FFF2-40B4-BE49-F238E27FC236}">
                <a16:creationId xmlns:a16="http://schemas.microsoft.com/office/drawing/2014/main" id="{0D336105-BFB0-4E6C-A49C-BC661B19F5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" y="3175"/>
            <a:ext cx="820738" cy="103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08" descr="Логотип_САПРиУ">
            <a:extLst>
              <a:ext uri="{FF2B5EF4-FFF2-40B4-BE49-F238E27FC236}">
                <a16:creationId xmlns:a16="http://schemas.microsoft.com/office/drawing/2014/main" id="{300EF0FB-2508-4399-9626-DDBF029161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0" t="10747" r="34196" b="37616"/>
          <a:stretch>
            <a:fillRect/>
          </a:stretch>
        </p:blipFill>
        <p:spPr bwMode="auto">
          <a:xfrm>
            <a:off x="8448675" y="-6437"/>
            <a:ext cx="701675" cy="68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Рисунок 2" descr="int_2">
            <a:extLst>
              <a:ext uri="{FF2B5EF4-FFF2-40B4-BE49-F238E27FC236}">
                <a16:creationId xmlns:a16="http://schemas.microsoft.com/office/drawing/2014/main" id="{38181B71-8487-4944-8389-12A87DB91A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592" y="6222257"/>
            <a:ext cx="909779" cy="6254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2CBBC52-8DFF-4902-8465-3E4FFA482FB9}"/>
              </a:ext>
            </a:extLst>
          </p:cNvPr>
          <p:cNvSpPr txBox="1"/>
          <p:nvPr/>
        </p:nvSpPr>
        <p:spPr>
          <a:xfrm>
            <a:off x="8213769" y="6321464"/>
            <a:ext cx="9097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b="1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rPr>
              <a:t>7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rPr>
              <a:t>/17</a:t>
            </a:r>
            <a:endParaRPr lang="en-US" sz="1800" b="1" i="0" u="none" strike="noStrike" cap="none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Arial"/>
              <a:sym typeface="Arial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C2222BB-63CA-4A50-AFAC-6E1562A2E5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137" y="1566862"/>
            <a:ext cx="5419725" cy="372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887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6436"/>
            <a:ext cx="8229600" cy="771140"/>
          </a:xfrm>
        </p:spPr>
        <p:txBody>
          <a:bodyPr/>
          <a:lstStyle/>
          <a:p>
            <a:r>
              <a:rPr lang="ru-RU" altLang="ru-RU" sz="2600" b="1" dirty="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Концептуальная модель базы данных программного комплекса</a:t>
            </a:r>
            <a:endParaRPr lang="ru-RU" sz="2600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F259C684-65C0-46C2-BC84-C7CFE3742987}"/>
              </a:ext>
            </a:extLst>
          </p:cNvPr>
          <p:cNvSpPr txBox="1">
            <a:spLocks noRot="1" noChangeArrowheads="1"/>
          </p:cNvSpPr>
          <p:nvPr/>
        </p:nvSpPr>
        <p:spPr>
          <a:xfrm>
            <a:off x="539750" y="6408738"/>
            <a:ext cx="7920038" cy="404812"/>
          </a:xfrm>
          <a:prstGeom prst="rect">
            <a:avLst/>
          </a:prstGeom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ru-RU" altLang="ru-RU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Программный комплекс для учета продукции предприятия по производству эпоксидных смол</a:t>
            </a:r>
            <a:endParaRPr lang="ru-RU" altLang="ru-RU" sz="1200" b="1" dirty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60" descr="znak">
            <a:extLst>
              <a:ext uri="{FF2B5EF4-FFF2-40B4-BE49-F238E27FC236}">
                <a16:creationId xmlns:a16="http://schemas.microsoft.com/office/drawing/2014/main" id="{24DEF2A3-818D-4D29-8F41-A529E285A2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502012" cy="6357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60" descr="znak">
            <a:extLst>
              <a:ext uri="{FF2B5EF4-FFF2-40B4-BE49-F238E27FC236}">
                <a16:creationId xmlns:a16="http://schemas.microsoft.com/office/drawing/2014/main" id="{64A1080E-7E85-4178-B4C1-3DDB43BB89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" y="3175"/>
            <a:ext cx="820738" cy="103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108" descr="Логотип_САПРиУ">
            <a:extLst>
              <a:ext uri="{FF2B5EF4-FFF2-40B4-BE49-F238E27FC236}">
                <a16:creationId xmlns:a16="http://schemas.microsoft.com/office/drawing/2014/main" id="{256B1EC5-935B-4971-86E9-6FB6B7CF37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0" t="10747" r="34196" b="37616"/>
          <a:stretch>
            <a:fillRect/>
          </a:stretch>
        </p:blipFill>
        <p:spPr bwMode="auto">
          <a:xfrm>
            <a:off x="8448675" y="-6437"/>
            <a:ext cx="701675" cy="68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Рисунок 2" descr="int_2">
            <a:extLst>
              <a:ext uri="{FF2B5EF4-FFF2-40B4-BE49-F238E27FC236}">
                <a16:creationId xmlns:a16="http://schemas.microsoft.com/office/drawing/2014/main" id="{EC7F882F-C447-44BE-B831-D8FD12DB3B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592" y="6222257"/>
            <a:ext cx="909779" cy="6254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3F5BD6E-E0A2-497B-9E79-A98FFF259596}"/>
              </a:ext>
            </a:extLst>
          </p:cNvPr>
          <p:cNvSpPr txBox="1"/>
          <p:nvPr/>
        </p:nvSpPr>
        <p:spPr>
          <a:xfrm>
            <a:off x="8213769" y="6321464"/>
            <a:ext cx="9097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b="1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rPr>
              <a:t>8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rPr>
              <a:t>/17</a:t>
            </a:r>
            <a:endParaRPr lang="en-US" sz="1800" b="1" i="0" u="none" strike="noStrike" cap="none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Arial"/>
              <a:sym typeface="Arial"/>
            </a:endParaRP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28691EC6-5718-4B93-96D1-7C90ECDDC7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237" y="1700808"/>
            <a:ext cx="7629525" cy="4024511"/>
          </a:xfrm>
        </p:spPr>
      </p:pic>
    </p:spTree>
    <p:extLst>
      <p:ext uri="{BB962C8B-B14F-4D97-AF65-F5344CB8AC3E}">
        <p14:creationId xmlns:p14="http://schemas.microsoft.com/office/powerpoint/2010/main" val="102467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6437"/>
            <a:ext cx="8229600" cy="771141"/>
          </a:xfrm>
        </p:spPr>
        <p:txBody>
          <a:bodyPr/>
          <a:lstStyle/>
          <a:p>
            <a:r>
              <a:rPr lang="ru-RU" altLang="ru-RU" sz="2600" b="1" dirty="0" err="1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Даталогическая</a:t>
            </a:r>
            <a:r>
              <a:rPr lang="ru-RU" altLang="ru-RU" sz="2600" b="1" dirty="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модель базы данных программного комплекса</a:t>
            </a:r>
            <a:endParaRPr lang="ru-RU" sz="2600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F259C684-65C0-46C2-BC84-C7CFE3742987}"/>
              </a:ext>
            </a:extLst>
          </p:cNvPr>
          <p:cNvSpPr txBox="1">
            <a:spLocks noRot="1" noChangeArrowheads="1"/>
          </p:cNvSpPr>
          <p:nvPr/>
        </p:nvSpPr>
        <p:spPr>
          <a:xfrm>
            <a:off x="539750" y="6408738"/>
            <a:ext cx="7920038" cy="404812"/>
          </a:xfrm>
          <a:prstGeom prst="rect">
            <a:avLst/>
          </a:prstGeom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ru-RU" altLang="ru-RU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Программный комплекс для учета продукции предприятия по производству эпоксидных смол</a:t>
            </a:r>
            <a:endParaRPr lang="ru-RU" altLang="ru-RU" sz="1200" b="1" dirty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60" descr="znak">
            <a:extLst>
              <a:ext uri="{FF2B5EF4-FFF2-40B4-BE49-F238E27FC236}">
                <a16:creationId xmlns:a16="http://schemas.microsoft.com/office/drawing/2014/main" id="{24DEF2A3-818D-4D29-8F41-A529E285A2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502012" cy="6357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60" descr="znak">
            <a:extLst>
              <a:ext uri="{FF2B5EF4-FFF2-40B4-BE49-F238E27FC236}">
                <a16:creationId xmlns:a16="http://schemas.microsoft.com/office/drawing/2014/main" id="{EB7DCC68-1769-4C02-9DA1-F20BBF2DB4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" y="3175"/>
            <a:ext cx="820738" cy="103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108" descr="Логотип_САПРиУ">
            <a:extLst>
              <a:ext uri="{FF2B5EF4-FFF2-40B4-BE49-F238E27FC236}">
                <a16:creationId xmlns:a16="http://schemas.microsoft.com/office/drawing/2014/main" id="{57F2B733-039C-4E51-A584-B312CAECB3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0" t="10747" r="34196" b="37616"/>
          <a:stretch>
            <a:fillRect/>
          </a:stretch>
        </p:blipFill>
        <p:spPr bwMode="auto">
          <a:xfrm>
            <a:off x="8448675" y="-6437"/>
            <a:ext cx="701675" cy="68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Рисунок 2" descr="int_2">
            <a:extLst>
              <a:ext uri="{FF2B5EF4-FFF2-40B4-BE49-F238E27FC236}">
                <a16:creationId xmlns:a16="http://schemas.microsoft.com/office/drawing/2014/main" id="{98392228-0C2C-4784-BBC6-DF99BB848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592" y="6222257"/>
            <a:ext cx="909779" cy="6254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5EE9285-E57B-48C3-8808-0A8B49426561}"/>
              </a:ext>
            </a:extLst>
          </p:cNvPr>
          <p:cNvSpPr txBox="1"/>
          <p:nvPr/>
        </p:nvSpPr>
        <p:spPr>
          <a:xfrm>
            <a:off x="8213769" y="6321464"/>
            <a:ext cx="9097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b="1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rPr>
              <a:t>9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rPr>
              <a:t>/17</a:t>
            </a:r>
            <a:endParaRPr lang="en-US" sz="1800" b="1" i="0" u="none" strike="noStrike" cap="none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Arial"/>
              <a:sym typeface="Arial"/>
            </a:endParaRP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D2212A31-E47A-46FB-A7AC-229E1DCD56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12776"/>
            <a:ext cx="8229600" cy="4248472"/>
          </a:xfrm>
        </p:spPr>
      </p:pic>
    </p:spTree>
    <p:extLst>
      <p:ext uri="{BB962C8B-B14F-4D97-AF65-F5344CB8AC3E}">
        <p14:creationId xmlns:p14="http://schemas.microsoft.com/office/powerpoint/2010/main" val="4181704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Rot="1" noChangeArrowheads="1"/>
          </p:cNvSpPr>
          <p:nvPr/>
        </p:nvSpPr>
        <p:spPr>
          <a:xfrm>
            <a:off x="47625" y="-50800"/>
            <a:ext cx="9144000" cy="527472"/>
          </a:xfrm>
          <a:prstGeom prst="rect">
            <a:avLst/>
          </a:prstGeom>
        </p:spPr>
        <p:txBody>
          <a:bodyPr anchor="ctr">
            <a:norm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ru-RU" sz="26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Times New Roman" pitchFamily="18" charset="0"/>
              </a:rPr>
              <a:t>Сравнительный анализ СУБД</a:t>
            </a:r>
          </a:p>
        </p:txBody>
      </p:sp>
      <p:pic>
        <p:nvPicPr>
          <p:cNvPr id="18435" name="Рисунок 6" descr="zna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049"/>
            <a:ext cx="523875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AB7EDF49-95B3-48AB-B366-82BAAB2A59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1841258"/>
              </p:ext>
            </p:extLst>
          </p:nvPr>
        </p:nvGraphicFramePr>
        <p:xfrm>
          <a:off x="168971" y="1229469"/>
          <a:ext cx="8651503" cy="4054736"/>
        </p:xfrm>
        <a:graphic>
          <a:graphicData uri="http://schemas.openxmlformats.org/drawingml/2006/table">
            <a:tbl>
              <a:tblPr firstRow="1" firstCol="1" bandRow="1"/>
              <a:tblGrid>
                <a:gridCol w="1738733">
                  <a:extLst>
                    <a:ext uri="{9D8B030D-6E8A-4147-A177-3AD203B41FA5}">
                      <a16:colId xmlns:a16="http://schemas.microsoft.com/office/drawing/2014/main" val="1828273287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871095485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152763737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3207129475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1975594268"/>
                    </a:ext>
                  </a:extLst>
                </a:gridCol>
                <a:gridCol w="1440162">
                  <a:extLst>
                    <a:ext uri="{9D8B030D-6E8A-4147-A177-3AD203B41FA5}">
                      <a16:colId xmlns:a16="http://schemas.microsoft.com/office/drawing/2014/main" val="3652083193"/>
                    </a:ext>
                  </a:extLst>
                </a:gridCol>
              </a:tblGrid>
              <a:tr h="3997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3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СУБД</a:t>
                      </a:r>
                    </a:p>
                  </a:txBody>
                  <a:tcPr marL="61406" marR="6140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Oracle</a:t>
                      </a:r>
                      <a:endParaRPr lang="ru-RU" sz="13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406" marR="6140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MySQL </a:t>
                      </a:r>
                      <a:endParaRPr lang="ru-RU" sz="13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406" marR="6140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300" b="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Microsoft Access</a:t>
                      </a:r>
                      <a:endParaRPr lang="ru-RU" sz="1300" b="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406" marR="6140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300" b="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SQLite </a:t>
                      </a:r>
                      <a:endParaRPr lang="ru-RU" sz="1300" b="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406" marR="6140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3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Microsoft SQL</a:t>
                      </a:r>
                      <a:r>
                        <a:rPr lang="ru-RU" sz="13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marL="61406" marR="6140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0052317"/>
                  </a:ext>
                </a:extLst>
              </a:tr>
              <a:tr h="3997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3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Модель данных в СУБД</a:t>
                      </a:r>
                    </a:p>
                  </a:txBody>
                  <a:tcPr marL="61406" marR="6140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3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Объектно-реляционная</a:t>
                      </a:r>
                    </a:p>
                  </a:txBody>
                  <a:tcPr marL="61406" marR="6140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3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Реляционная</a:t>
                      </a:r>
                    </a:p>
                  </a:txBody>
                  <a:tcPr marL="61406" marR="6140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300" b="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Реляционная</a:t>
                      </a:r>
                    </a:p>
                  </a:txBody>
                  <a:tcPr marL="61406" marR="6140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300" b="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Реляционная</a:t>
                      </a:r>
                    </a:p>
                  </a:txBody>
                  <a:tcPr marL="61406" marR="6140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3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Реляционная</a:t>
                      </a:r>
                    </a:p>
                  </a:txBody>
                  <a:tcPr marL="61406" marR="6140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8406618"/>
                  </a:ext>
                </a:extLst>
              </a:tr>
              <a:tr h="129812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3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Поддержка различных платформ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ru-RU" sz="13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406" marR="6140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Linux,</a:t>
                      </a:r>
                      <a:endParaRPr lang="ru-RU" sz="13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Microsoft Windows, Oracle Solaris,</a:t>
                      </a:r>
                      <a:endParaRPr lang="ru-RU" sz="13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3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IBM AIX,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3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HP-UX</a:t>
                      </a:r>
                    </a:p>
                  </a:txBody>
                  <a:tcPr marL="61406" marR="6140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Linux,</a:t>
                      </a:r>
                      <a:endParaRPr lang="ru-RU" sz="13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Microsoft Windows, Oracle Solaris,</a:t>
                      </a:r>
                      <a:endParaRPr lang="ru-RU" sz="13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300" dirty="0" err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macOS</a:t>
                      </a:r>
                      <a:r>
                        <a:rPr lang="ru-RU" sz="13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ru-RU" sz="1300" dirty="0" err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FreeBSD</a:t>
                      </a:r>
                      <a:endParaRPr lang="ru-RU" sz="13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406" marR="6140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300" b="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Microsoft Windows</a:t>
                      </a:r>
                      <a:endParaRPr lang="ru-RU" sz="1300" b="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406" marR="6140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300" b="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Linux,</a:t>
                      </a:r>
                      <a:endParaRPr lang="ru-RU" sz="1300" b="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300" b="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Microsoft Windows</a:t>
                      </a:r>
                      <a:endParaRPr lang="ru-RU" sz="1300" b="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406" marR="6140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300" b="1" dirty="0" err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Linux</a:t>
                      </a:r>
                      <a:r>
                        <a:rPr lang="ru-RU" sz="13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300" b="1" dirty="0" err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Microsoft</a:t>
                      </a:r>
                      <a:r>
                        <a:rPr lang="ru-RU" sz="13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 Windows</a:t>
                      </a:r>
                    </a:p>
                  </a:txBody>
                  <a:tcPr marL="61406" marR="6140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3274120"/>
                  </a:ext>
                </a:extLst>
              </a:tr>
              <a:tr h="60887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3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Максимальный размер базы данных</a:t>
                      </a:r>
                    </a:p>
                  </a:txBody>
                  <a:tcPr marL="61406" marR="6140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3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Неограничен</a:t>
                      </a:r>
                    </a:p>
                  </a:txBody>
                  <a:tcPr marL="61406" marR="6140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3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Неограничен</a:t>
                      </a:r>
                    </a:p>
                  </a:txBody>
                  <a:tcPr marL="61406" marR="6140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300" b="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2 Г</a:t>
                      </a:r>
                      <a:r>
                        <a:rPr lang="ru-RU" sz="1300" b="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б</a:t>
                      </a:r>
                    </a:p>
                  </a:txBody>
                  <a:tcPr marL="61406" marR="6140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300" b="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140 </a:t>
                      </a:r>
                      <a:r>
                        <a:rPr lang="ru-RU" sz="1300" b="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Т</a:t>
                      </a:r>
                      <a:r>
                        <a:rPr lang="en-US" sz="1300" b="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б</a:t>
                      </a:r>
                      <a:endParaRPr lang="ru-RU" sz="1300" b="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406" marR="6140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3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524 272 Тб</a:t>
                      </a:r>
                    </a:p>
                  </a:txBody>
                  <a:tcPr marL="61406" marR="6140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4481745"/>
                  </a:ext>
                </a:extLst>
              </a:tr>
              <a:tr h="3997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3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Максимальный размер таблиц</a:t>
                      </a:r>
                    </a:p>
                  </a:txBody>
                  <a:tcPr marL="61406" marR="6140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3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128 Тб</a:t>
                      </a:r>
                    </a:p>
                  </a:txBody>
                  <a:tcPr marL="61406" marR="6140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3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256 Тб</a:t>
                      </a:r>
                    </a:p>
                  </a:txBody>
                  <a:tcPr marL="61406" marR="6140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300" b="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2 Г</a:t>
                      </a:r>
                      <a:r>
                        <a:rPr lang="ru-RU" sz="1300" b="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б</a:t>
                      </a:r>
                    </a:p>
                  </a:txBody>
                  <a:tcPr marL="61406" marR="6140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300" b="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140 </a:t>
                      </a:r>
                      <a:r>
                        <a:rPr lang="ru-RU" sz="1300" b="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Т</a:t>
                      </a:r>
                      <a:r>
                        <a:rPr lang="en-US" sz="1300" b="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б</a:t>
                      </a:r>
                      <a:endParaRPr lang="ru-RU" sz="1300" b="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406" marR="6140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3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524 272 Тб</a:t>
                      </a:r>
                    </a:p>
                  </a:txBody>
                  <a:tcPr marL="61406" marR="6140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0378674"/>
                  </a:ext>
                </a:extLst>
              </a:tr>
              <a:tr h="3997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300" dirty="0" err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Транзакционность</a:t>
                      </a:r>
                      <a:r>
                        <a:rPr lang="ru-RU" sz="13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marL="61406" marR="6140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3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Да, не считая </a:t>
                      </a:r>
                      <a:r>
                        <a:rPr lang="en-US" sz="13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DLL</a:t>
                      </a:r>
                      <a:endParaRPr lang="ru-RU" sz="13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406" marR="6140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3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Да, не считая </a:t>
                      </a:r>
                      <a:r>
                        <a:rPr lang="en-US" sz="13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DLL</a:t>
                      </a:r>
                      <a:endParaRPr lang="ru-RU" sz="13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406" marR="6140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300" b="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61406" marR="6140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300" b="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61406" marR="6140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3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61406" marR="6140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7402737"/>
                  </a:ext>
                </a:extLst>
              </a:tr>
              <a:tr h="46000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3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Резервное копирование </a:t>
                      </a:r>
                    </a:p>
                  </a:txBody>
                  <a:tcPr marL="61406" marR="6140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3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61406" marR="6140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3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61406" marR="6140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300" b="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61406" marR="6140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300" b="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Да (</a:t>
                      </a:r>
                      <a:r>
                        <a:rPr lang="en-US" sz="1300" b="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Backup API)</a:t>
                      </a:r>
                      <a:endParaRPr lang="ru-RU" sz="1300" b="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406" marR="6140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3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61406" marR="6140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3916235"/>
                  </a:ext>
                </a:extLst>
              </a:tr>
            </a:tbl>
          </a:graphicData>
        </a:graphic>
      </p:graphicFrame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288480" y="5075954"/>
            <a:ext cx="8412483" cy="1143000"/>
          </a:xfrm>
        </p:spPr>
        <p:txBody>
          <a:bodyPr/>
          <a:lstStyle/>
          <a:p>
            <a:pPr algn="just"/>
            <a:r>
              <a:rPr lang="ru-RU" sz="1500" dirty="0">
                <a:latin typeface="Verdana" panose="020B0604030504040204" pitchFamily="34" charset="0"/>
                <a:ea typeface="Verdana" panose="020B0604030504040204" pitchFamily="34" charset="0"/>
              </a:rPr>
              <a:t>Выбор сделан в пользу </a:t>
            </a:r>
            <a:r>
              <a:rPr lang="en-US" sz="1500" dirty="0">
                <a:latin typeface="Verdana" panose="020B0604030504040204" pitchFamily="34" charset="0"/>
                <a:ea typeface="Verdana" panose="020B0604030504040204" pitchFamily="34" charset="0"/>
              </a:rPr>
              <a:t>MS SQL Server</a:t>
            </a:r>
            <a:r>
              <a:rPr lang="ru-RU" sz="1500" dirty="0">
                <a:latin typeface="Verdana" panose="020B0604030504040204" pitchFamily="34" charset="0"/>
                <a:ea typeface="Verdana" panose="020B0604030504040204" pitchFamily="34" charset="0"/>
              </a:rPr>
              <a:t>, т.к. он обладает удобной интеграцией с </a:t>
            </a:r>
            <a:r>
              <a:rPr lang="en-US" sz="1500" dirty="0">
                <a:latin typeface="Verdana" panose="020B0604030504040204" pitchFamily="34" charset="0"/>
                <a:ea typeface="Verdana" panose="020B0604030504040204" pitchFamily="34" charset="0"/>
              </a:rPr>
              <a:t>MS Visual studio, </a:t>
            </a:r>
            <a:r>
              <a:rPr lang="ru-RU" sz="1500" dirty="0">
                <a:latin typeface="Verdana" panose="020B0604030504040204" pitchFamily="34" charset="0"/>
                <a:ea typeface="Verdana" panose="020B0604030504040204" pitchFamily="34" charset="0"/>
              </a:rPr>
              <a:t>в которой разработано клиентское приложение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77738583-2BBB-40BB-9C09-FFACE722112A}"/>
              </a:ext>
            </a:extLst>
          </p:cNvPr>
          <p:cNvSpPr txBox="1">
            <a:spLocks noRot="1" noChangeArrowheads="1"/>
          </p:cNvSpPr>
          <p:nvPr/>
        </p:nvSpPr>
        <p:spPr>
          <a:xfrm>
            <a:off x="539750" y="6408738"/>
            <a:ext cx="7920038" cy="404812"/>
          </a:xfrm>
          <a:prstGeom prst="rect">
            <a:avLst/>
          </a:prstGeom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ru-RU" altLang="ru-RU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Программный комплекс для учета продукции предприятия по производству эпоксидных смол</a:t>
            </a:r>
            <a:endParaRPr lang="ru-RU" altLang="ru-RU" sz="1200" b="1" dirty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60" descr="znak">
            <a:extLst>
              <a:ext uri="{FF2B5EF4-FFF2-40B4-BE49-F238E27FC236}">
                <a16:creationId xmlns:a16="http://schemas.microsoft.com/office/drawing/2014/main" id="{D043534C-E84F-422A-BFD5-649D139F6D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" y="3175"/>
            <a:ext cx="820738" cy="103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08" descr="Логотип_САПРиУ">
            <a:extLst>
              <a:ext uri="{FF2B5EF4-FFF2-40B4-BE49-F238E27FC236}">
                <a16:creationId xmlns:a16="http://schemas.microsoft.com/office/drawing/2014/main" id="{7D839372-A118-4873-BC4C-410B7EFBA2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0" t="10747" r="34196" b="37616"/>
          <a:stretch>
            <a:fillRect/>
          </a:stretch>
        </p:blipFill>
        <p:spPr bwMode="auto">
          <a:xfrm>
            <a:off x="8448675" y="-6437"/>
            <a:ext cx="701675" cy="68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Рисунок 2" descr="int_2">
            <a:extLst>
              <a:ext uri="{FF2B5EF4-FFF2-40B4-BE49-F238E27FC236}">
                <a16:creationId xmlns:a16="http://schemas.microsoft.com/office/drawing/2014/main" id="{51151A18-AA0F-4F9B-BFAD-CC38B8B804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592" y="6222257"/>
            <a:ext cx="909779" cy="6254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0511F25-15A4-425A-A38F-0E4E8380DADF}"/>
              </a:ext>
            </a:extLst>
          </p:cNvPr>
          <p:cNvSpPr txBox="1"/>
          <p:nvPr/>
        </p:nvSpPr>
        <p:spPr>
          <a:xfrm>
            <a:off x="8100393" y="6321464"/>
            <a:ext cx="10231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b="1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rPr>
              <a:t>10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rPr>
              <a:t>/17</a:t>
            </a:r>
            <a:endParaRPr lang="en-US" sz="1800" b="1" i="0" u="none" strike="noStrike" cap="none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07875579"/>
      </p:ext>
    </p:extLst>
  </p:cSld>
  <p:clrMapOvr>
    <a:masterClrMapping/>
  </p:clrMapOvr>
  <p:transition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4ECE3C38-A425-224E-AC53-21C98EC4C914}"/>
              </a:ext>
            </a:extLst>
          </p:cNvPr>
          <p:cNvSpPr txBox="1">
            <a:spLocks noRot="1" noChangeArrowheads="1"/>
          </p:cNvSpPr>
          <p:nvPr/>
        </p:nvSpPr>
        <p:spPr>
          <a:xfrm>
            <a:off x="251520" y="0"/>
            <a:ext cx="8892480" cy="1052513"/>
          </a:xfrm>
          <a:prstGeom prst="rect">
            <a:avLst/>
          </a:prstGeom>
        </p:spPr>
        <p:txBody>
          <a:bodyPr anchor="ctr">
            <a:norm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ru-RU" sz="2600" b="1" dirty="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Times New Roman" pitchFamily="18" charset="0"/>
              </a:rPr>
              <a:t>Структура программного обеспечения</a:t>
            </a:r>
          </a:p>
        </p:txBody>
      </p:sp>
      <p:sp>
        <p:nvSpPr>
          <p:cNvPr id="24579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>
              <a:latin typeface="Arial" panose="020B0604020202020204" pitchFamily="34" charset="0"/>
            </a:endParaRPr>
          </a:p>
        </p:txBody>
      </p:sp>
      <p:pic>
        <p:nvPicPr>
          <p:cNvPr id="24580" name="Рисунок 7" descr="zna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23875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2">
            <a:extLst>
              <a:ext uri="{FF2B5EF4-FFF2-40B4-BE49-F238E27FC236}">
                <a16:creationId xmlns:a16="http://schemas.microsoft.com/office/drawing/2014/main" id="{E5E0548B-8CFC-40F0-9921-68418ECD25A4}"/>
              </a:ext>
            </a:extLst>
          </p:cNvPr>
          <p:cNvSpPr txBox="1">
            <a:spLocks noRot="1" noChangeArrowheads="1"/>
          </p:cNvSpPr>
          <p:nvPr/>
        </p:nvSpPr>
        <p:spPr>
          <a:xfrm>
            <a:off x="539750" y="6408738"/>
            <a:ext cx="7920038" cy="404812"/>
          </a:xfrm>
          <a:prstGeom prst="rect">
            <a:avLst/>
          </a:prstGeom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ru-RU" altLang="ru-RU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Программный комплекс для учета продукции предприятия по производству эпоксидных смол</a:t>
            </a:r>
            <a:endParaRPr lang="ru-RU" altLang="ru-RU" sz="1200" b="1" dirty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60" descr="znak">
            <a:extLst>
              <a:ext uri="{FF2B5EF4-FFF2-40B4-BE49-F238E27FC236}">
                <a16:creationId xmlns:a16="http://schemas.microsoft.com/office/drawing/2014/main" id="{5899A97D-ECB4-4586-96B7-DCACB09113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" y="3175"/>
            <a:ext cx="820738" cy="103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108" descr="Логотип_САПРиУ">
            <a:extLst>
              <a:ext uri="{FF2B5EF4-FFF2-40B4-BE49-F238E27FC236}">
                <a16:creationId xmlns:a16="http://schemas.microsoft.com/office/drawing/2014/main" id="{F09B2E87-1204-4340-84CD-F4AB360C5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0" t="10747" r="34196" b="37616"/>
          <a:stretch>
            <a:fillRect/>
          </a:stretch>
        </p:blipFill>
        <p:spPr bwMode="auto">
          <a:xfrm>
            <a:off x="8448675" y="-6437"/>
            <a:ext cx="701675" cy="68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Рисунок 2" descr="int_2">
            <a:extLst>
              <a:ext uri="{FF2B5EF4-FFF2-40B4-BE49-F238E27FC236}">
                <a16:creationId xmlns:a16="http://schemas.microsoft.com/office/drawing/2014/main" id="{B85BBE71-1120-4963-8359-A4161AC910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592" y="6222257"/>
            <a:ext cx="909779" cy="6254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31C2C93-D5A8-4F62-96A8-91E5112618E2}"/>
              </a:ext>
            </a:extLst>
          </p:cNvPr>
          <p:cNvSpPr txBox="1"/>
          <p:nvPr/>
        </p:nvSpPr>
        <p:spPr>
          <a:xfrm>
            <a:off x="8100393" y="6321464"/>
            <a:ext cx="10231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b="1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rPr>
              <a:t>11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rPr>
              <a:t>/17</a:t>
            </a:r>
            <a:endParaRPr lang="en-US" sz="1800" b="1" i="0" u="none" strike="noStrike" cap="none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Arial"/>
              <a:sym typeface="Arial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BD094AF-479C-4BCC-BEBD-3DA0C811F31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5612" y="836712"/>
            <a:ext cx="3152775" cy="5385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0725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Rot="1" noChangeArrowheads="1"/>
          </p:cNvSpPr>
          <p:nvPr/>
        </p:nvSpPr>
        <p:spPr>
          <a:xfrm>
            <a:off x="179512" y="10270"/>
            <a:ext cx="8658101" cy="1039813"/>
          </a:xfrm>
          <a:prstGeom prst="rect">
            <a:avLst/>
          </a:prstGeom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ru-RU" altLang="ru-RU" sz="2600" b="1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Характеристика программного обеспечения</a:t>
            </a:r>
          </a:p>
        </p:txBody>
      </p:sp>
      <p:sp>
        <p:nvSpPr>
          <p:cNvPr id="17411" name="Rectangle 2"/>
          <p:cNvSpPr txBox="1">
            <a:spLocks noRot="1" noChangeArrowheads="1"/>
          </p:cNvSpPr>
          <p:nvPr/>
        </p:nvSpPr>
        <p:spPr bwMode="auto">
          <a:xfrm>
            <a:off x="0" y="1916113"/>
            <a:ext cx="9144000" cy="223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ru-RU" altLang="ru-RU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9156407"/>
              </p:ext>
            </p:extLst>
          </p:nvPr>
        </p:nvGraphicFramePr>
        <p:xfrm>
          <a:off x="542617" y="1216088"/>
          <a:ext cx="8075613" cy="4805198"/>
        </p:xfrm>
        <a:graphic>
          <a:graphicData uri="http://schemas.openxmlformats.org/drawingml/2006/table">
            <a:tbl>
              <a:tblPr/>
              <a:tblGrid>
                <a:gridCol w="43202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53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22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itchFamily="18" charset="0"/>
                        </a:rPr>
                        <a:t>Показатель</a:t>
                      </a: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itchFamily="18" charset="0"/>
                        </a:rPr>
                        <a:t>Значение</a:t>
                      </a: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46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itchFamily="18" charset="0"/>
                        </a:rPr>
                        <a:t>Технология программирования</a:t>
                      </a: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itchFamily="18" charset="0"/>
                        </a:rPr>
                        <a:t>Объектно-ориентированное программирование</a:t>
                      </a: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22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itchFamily="18" charset="0"/>
                        </a:rPr>
                        <a:t>Среда разработки</a:t>
                      </a: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itchFamily="18" charset="0"/>
                        </a:rPr>
                        <a:t>Mirosoft</a:t>
                      </a: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itchFamily="18" charset="0"/>
                        </a:rPr>
                        <a:t> Visual Studio 2022</a:t>
                      </a:r>
                      <a:endParaRPr kumimoji="0" lang="ru-RU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2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itchFamily="18" charset="0"/>
                        </a:rPr>
                        <a:t>Язык программирования</a:t>
                      </a:r>
                      <a:endParaRPr kumimoji="0" lang="ru-RU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itchFamily="18" charset="0"/>
                        </a:rPr>
                        <a:t>C#</a:t>
                      </a:r>
                      <a:endParaRPr kumimoji="0" lang="ru-RU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22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itchFamily="18" charset="0"/>
                        </a:rPr>
                        <a:t>Количество классов, структур</a:t>
                      </a:r>
                      <a:endParaRPr kumimoji="0" lang="ru-RU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22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itchFamily="18" charset="0"/>
                        </a:rPr>
                        <a:t>Количество функций</a:t>
                      </a:r>
                      <a:endParaRPr kumimoji="0" lang="ru-RU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itchFamily="18" charset="0"/>
                        </a:rPr>
                        <a:t>12</a:t>
                      </a: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22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itchFamily="18" charset="0"/>
                        </a:rPr>
                        <a:t>Модель описания данных</a:t>
                      </a:r>
                      <a:endParaRPr kumimoji="0" lang="ru-RU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itchFamily="18" charset="0"/>
                        </a:rPr>
                        <a:t>Реляционная модель</a:t>
                      </a: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22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itchFamily="18" charset="0"/>
                        </a:rPr>
                        <a:t>СУБД</a:t>
                      </a:r>
                      <a:endParaRPr kumimoji="0" lang="ru-RU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itchFamily="18" charset="0"/>
                        </a:rPr>
                        <a:t>MS</a:t>
                      </a: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itchFamily="18" charset="0"/>
                        </a:rPr>
                        <a:t>SQL</a:t>
                      </a:r>
                      <a:endParaRPr kumimoji="0" lang="ru-RU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22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itchFamily="18" charset="0"/>
                        </a:rPr>
                        <a:t>Количество таблиц в базе данных</a:t>
                      </a:r>
                      <a:endParaRPr kumimoji="0" lang="ru-RU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itchFamily="18" charset="0"/>
                        </a:rPr>
                        <a:t>5</a:t>
                      </a:r>
                      <a:endParaRPr kumimoji="0" lang="ru-RU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22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itchFamily="18" charset="0"/>
                        </a:rPr>
                        <a:t>Количество полей в базе данных</a:t>
                      </a:r>
                      <a:endParaRPr kumimoji="0" lang="ru-RU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itchFamily="18" charset="0"/>
                        </a:rPr>
                        <a:t>18</a:t>
                      </a: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50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itchFamily="18" charset="0"/>
                        </a:rPr>
                        <a:t>Тип данных в базе данных </a:t>
                      </a:r>
                      <a:endParaRPr kumimoji="0" lang="ru-RU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itchFamily="18" charset="0"/>
                        </a:rPr>
                        <a:t>Int , </a:t>
                      </a:r>
                      <a:r>
                        <a:rPr kumimoji="0" lang="en-US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itchFamily="18" charset="0"/>
                        </a:rPr>
                        <a:t>nvarchar</a:t>
                      </a: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itchFamily="18" charset="0"/>
                        </a:rPr>
                        <a:t>, </a:t>
                      </a: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itchFamily="18" charset="0"/>
                        </a:rPr>
                        <a:t>date, </a:t>
                      </a:r>
                      <a:r>
                        <a:rPr kumimoji="0" lang="en-US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itchFamily="18" charset="0"/>
                        </a:rPr>
                        <a:t>smallint</a:t>
                      </a: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itchFamily="18" charset="0"/>
                        </a:rPr>
                        <a:t>, decimal(8,3)</a:t>
                      </a:r>
                      <a:endParaRPr kumimoji="0" lang="ru-RU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8446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itchFamily="18" charset="0"/>
                        </a:rPr>
                        <a:t>Тип связей между таблицами в базе данных</a:t>
                      </a:r>
                      <a:endParaRPr kumimoji="0" lang="ru-RU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itchFamily="18" charset="0"/>
                        </a:rPr>
                        <a:t>Один-ко-многим</a:t>
                      </a: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22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itchFamily="18" charset="0"/>
                        </a:rPr>
                        <a:t>Текущий объем базы данных, Мб</a:t>
                      </a:r>
                      <a:endParaRPr kumimoji="0" lang="ru-RU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22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itchFamily="18" charset="0"/>
                        </a:rPr>
                        <a:t>Максимальный объем базы данных, Тб </a:t>
                      </a:r>
                      <a:endParaRPr kumimoji="0" lang="ru-RU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itchFamily="18" charset="0"/>
                        </a:rPr>
                        <a:t>35</a:t>
                      </a: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48446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itchFamily="18" charset="0"/>
                        </a:rPr>
                        <a:t>Средства</a:t>
                      </a: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itchFamily="18" charset="0"/>
                        </a:rPr>
                        <a:t>обеспечения</a:t>
                      </a: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itchFamily="18" charset="0"/>
                        </a:rPr>
                        <a:t>защиты</a:t>
                      </a: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itchFamily="18" charset="0"/>
                        </a:rPr>
                        <a:t>информации</a:t>
                      </a: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itchFamily="18" charset="0"/>
                        </a:rPr>
                        <a:t>Авторизация пользователей</a:t>
                      </a:r>
                      <a:endParaRPr kumimoji="0" lang="ru-RU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itchFamily="18" charset="0"/>
                      </a:endParaRP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422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itchFamily="18" charset="0"/>
                        </a:rPr>
                        <a:t>Размер исполняемого файла, Кб</a:t>
                      </a: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itchFamily="18" charset="0"/>
                        </a:rPr>
                        <a:t>49</a:t>
                      </a:r>
                    </a:p>
                  </a:txBody>
                  <a:tcPr marL="58558" marR="5855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pic>
        <p:nvPicPr>
          <p:cNvPr id="17470" name="Picture 60" descr="zna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01662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EB9F4123-C4A3-428F-95A8-4A6D846BF715}"/>
              </a:ext>
            </a:extLst>
          </p:cNvPr>
          <p:cNvSpPr txBox="1">
            <a:spLocks noRot="1" noChangeArrowheads="1"/>
          </p:cNvSpPr>
          <p:nvPr/>
        </p:nvSpPr>
        <p:spPr>
          <a:xfrm>
            <a:off x="539750" y="6408738"/>
            <a:ext cx="7920038" cy="404812"/>
          </a:xfrm>
          <a:prstGeom prst="rect">
            <a:avLst/>
          </a:prstGeom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ru-RU" altLang="ru-RU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Программный комплекс для учета продукции предприятия по производству эпоксидных смол</a:t>
            </a:r>
            <a:endParaRPr lang="ru-RU" altLang="ru-RU" sz="1200" b="1" dirty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60" descr="znak">
            <a:extLst>
              <a:ext uri="{FF2B5EF4-FFF2-40B4-BE49-F238E27FC236}">
                <a16:creationId xmlns:a16="http://schemas.microsoft.com/office/drawing/2014/main" id="{4590C352-D6CE-4271-AA4A-2E9B05435E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" y="3175"/>
            <a:ext cx="820738" cy="103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08" descr="Логотип_САПРиУ">
            <a:extLst>
              <a:ext uri="{FF2B5EF4-FFF2-40B4-BE49-F238E27FC236}">
                <a16:creationId xmlns:a16="http://schemas.microsoft.com/office/drawing/2014/main" id="{04BFE969-05AF-4423-A252-0F803E452F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0" t="10747" r="34196" b="37616"/>
          <a:stretch>
            <a:fillRect/>
          </a:stretch>
        </p:blipFill>
        <p:spPr bwMode="auto">
          <a:xfrm>
            <a:off x="8448675" y="-6437"/>
            <a:ext cx="701675" cy="68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Рисунок 2" descr="int_2">
            <a:extLst>
              <a:ext uri="{FF2B5EF4-FFF2-40B4-BE49-F238E27FC236}">
                <a16:creationId xmlns:a16="http://schemas.microsoft.com/office/drawing/2014/main" id="{380D6E5B-E81B-4FE0-8C34-0A446C0763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592" y="6222257"/>
            <a:ext cx="909779" cy="6254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D753F7E-920B-42A3-8E5B-087DB4647E24}"/>
              </a:ext>
            </a:extLst>
          </p:cNvPr>
          <p:cNvSpPr txBox="1"/>
          <p:nvPr/>
        </p:nvSpPr>
        <p:spPr>
          <a:xfrm>
            <a:off x="8100393" y="6321464"/>
            <a:ext cx="10231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b="1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rPr>
              <a:t>12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rPr>
              <a:t>/17</a:t>
            </a:r>
            <a:endParaRPr lang="en-US" sz="1800" b="1" i="0" u="none" strike="noStrike" cap="none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174159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Rot="1" noChangeArrowheads="1"/>
          </p:cNvSpPr>
          <p:nvPr/>
        </p:nvSpPr>
        <p:spPr>
          <a:xfrm>
            <a:off x="0" y="-6437"/>
            <a:ext cx="9144000" cy="457200"/>
          </a:xfrm>
          <a:prstGeom prst="rect">
            <a:avLst/>
          </a:prstGeom>
        </p:spPr>
        <p:txBody>
          <a:bodyPr anchor="ctr">
            <a:normAutofit lnSpcReduction="10000"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ru-RU" sz="2600" b="1" dirty="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Times New Roman" pitchFamily="18" charset="0"/>
              </a:rPr>
              <a:t>Минимальные системные требования</a:t>
            </a:r>
          </a:p>
        </p:txBody>
      </p:sp>
      <p:sp>
        <p:nvSpPr>
          <p:cNvPr id="31747" name="Rectangle 7"/>
          <p:cNvSpPr>
            <a:spLocks noChangeArrowheads="1"/>
          </p:cNvSpPr>
          <p:nvPr/>
        </p:nvSpPr>
        <p:spPr bwMode="auto">
          <a:xfrm>
            <a:off x="1514475" y="219551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u-RU" altLang="ru-RU" sz="1400" b="1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/>
            </a:r>
            <a:br>
              <a:rPr lang="ru-RU" altLang="ru-RU" sz="1400" b="1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</a:br>
            <a:endParaRPr lang="ru-RU" altLang="ru-RU" sz="120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ru-RU" altLang="ru-RU" sz="1800">
              <a:latin typeface="Arial" panose="020B0604020202020204" pitchFamily="34" charset="0"/>
            </a:endParaRPr>
          </a:p>
        </p:txBody>
      </p:sp>
      <p:pic>
        <p:nvPicPr>
          <p:cNvPr id="31748" name="Рисунок 7" descr="zna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23875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6444297"/>
              </p:ext>
            </p:extLst>
          </p:nvPr>
        </p:nvGraphicFramePr>
        <p:xfrm>
          <a:off x="822325" y="1628775"/>
          <a:ext cx="7040564" cy="280068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202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0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4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Показатель</a:t>
                      </a:r>
                      <a:endParaRPr lang="ru-RU" sz="1200" b="1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Значение</a:t>
                      </a:r>
                      <a:endParaRPr lang="ru-RU" sz="1200" b="1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80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400" b="0" kern="12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Процессор с архитектурой 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x86-64</a:t>
                      </a:r>
                      <a:endParaRPr lang="ru-RU" sz="1400" b="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Intel с поддержкой EM64T, AMD с поддержкой AMD64 от1800 и выше</a:t>
                      </a:r>
                    </a:p>
                  </a:txBody>
                  <a:tcPr marL="68585" marR="6858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48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400" b="0" kern="12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Объем оперативной памяти, Гб</a:t>
                      </a:r>
                      <a:endParaRPr lang="ru-RU" sz="1400" b="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1400" b="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48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400" b="0" kern="120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Место на диске, Мб</a:t>
                      </a:r>
                      <a:endParaRPr lang="ru-RU" sz="1400" b="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5" marR="6858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17</a:t>
                      </a:r>
                    </a:p>
                  </a:txBody>
                  <a:tcPr marL="68585" marR="6858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60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Состав и характеристика периферийных устройств ЭВМ</a:t>
                      </a:r>
                    </a:p>
                  </a:txBody>
                  <a:tcPr marL="68585" marR="6858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Монитор, клавиатура, мышь</a:t>
                      </a:r>
                    </a:p>
                  </a:txBody>
                  <a:tcPr marL="68585" marR="6858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748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400" b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Операционная система</a:t>
                      </a:r>
                    </a:p>
                  </a:txBody>
                  <a:tcPr marL="68585" marR="6858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Windows </a:t>
                      </a:r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10 (64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x) </a:t>
                      </a:r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и выше</a:t>
                      </a:r>
                    </a:p>
                  </a:txBody>
                  <a:tcPr marL="68585" marR="6858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041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Прикладное программное обеспечение</a:t>
                      </a:r>
                    </a:p>
                  </a:txBody>
                  <a:tcPr marL="68585" marR="6858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itchFamily="18" charset="0"/>
                        </a:rPr>
                        <a:t>MS SQL Server</a:t>
                      </a: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itchFamily="18" charset="0"/>
                        </a:rPr>
                        <a:t> 2022</a:t>
                      </a:r>
                    </a:p>
                  </a:txBody>
                  <a:tcPr marL="68585" marR="6858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Rectangle 2">
            <a:extLst>
              <a:ext uri="{FF2B5EF4-FFF2-40B4-BE49-F238E27FC236}">
                <a16:creationId xmlns:a16="http://schemas.microsoft.com/office/drawing/2014/main" id="{932DC219-E0A5-4D3A-9AC3-2725E085D947}"/>
              </a:ext>
            </a:extLst>
          </p:cNvPr>
          <p:cNvSpPr txBox="1">
            <a:spLocks noRot="1" noChangeArrowheads="1"/>
          </p:cNvSpPr>
          <p:nvPr/>
        </p:nvSpPr>
        <p:spPr>
          <a:xfrm>
            <a:off x="539750" y="6408738"/>
            <a:ext cx="7920038" cy="404812"/>
          </a:xfrm>
          <a:prstGeom prst="rect">
            <a:avLst/>
          </a:prstGeom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ru-RU" altLang="ru-RU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Программный комплекс для учета продукции предприятия по производству эпоксидных смол</a:t>
            </a:r>
            <a:endParaRPr lang="ru-RU" altLang="ru-RU" sz="1200" b="1" dirty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60" descr="znak">
            <a:extLst>
              <a:ext uri="{FF2B5EF4-FFF2-40B4-BE49-F238E27FC236}">
                <a16:creationId xmlns:a16="http://schemas.microsoft.com/office/drawing/2014/main" id="{E3171D0F-5DB2-4B1F-835E-129ECD97A2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" y="3175"/>
            <a:ext cx="820738" cy="103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08" descr="Логотип_САПРиУ">
            <a:extLst>
              <a:ext uri="{FF2B5EF4-FFF2-40B4-BE49-F238E27FC236}">
                <a16:creationId xmlns:a16="http://schemas.microsoft.com/office/drawing/2014/main" id="{EE80B0E8-AC95-45AE-B469-786C9F8779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0" t="10747" r="34196" b="37616"/>
          <a:stretch>
            <a:fillRect/>
          </a:stretch>
        </p:blipFill>
        <p:spPr bwMode="auto">
          <a:xfrm>
            <a:off x="8448675" y="-6437"/>
            <a:ext cx="701675" cy="68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Рисунок 2" descr="int_2">
            <a:extLst>
              <a:ext uri="{FF2B5EF4-FFF2-40B4-BE49-F238E27FC236}">
                <a16:creationId xmlns:a16="http://schemas.microsoft.com/office/drawing/2014/main" id="{780EA6C9-EEB1-42F7-8B6D-A16F580D7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592" y="6222257"/>
            <a:ext cx="909779" cy="6254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7FD628D-5679-408B-970E-452AE1849EC2}"/>
              </a:ext>
            </a:extLst>
          </p:cNvPr>
          <p:cNvSpPr txBox="1"/>
          <p:nvPr/>
        </p:nvSpPr>
        <p:spPr>
          <a:xfrm>
            <a:off x="8100393" y="6321464"/>
            <a:ext cx="10231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b="1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rPr>
              <a:t>13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rPr>
              <a:t>/17</a:t>
            </a:r>
            <a:endParaRPr lang="en-US" sz="1800" b="1" i="0" u="none" strike="noStrike" cap="none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59010959"/>
      </p:ext>
    </p:extLst>
  </p:cSld>
  <p:clrMapOvr>
    <a:masterClrMapping/>
  </p:clrMapOvr>
  <p:transition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198541C-1280-4AB2-BDBE-FA286BD24FB8}"/>
              </a:ext>
            </a:extLst>
          </p:cNvPr>
          <p:cNvSpPr txBox="1">
            <a:spLocks noRot="1" noChangeArrowheads="1"/>
          </p:cNvSpPr>
          <p:nvPr/>
        </p:nvSpPr>
        <p:spPr>
          <a:xfrm>
            <a:off x="683568" y="-6437"/>
            <a:ext cx="7765107" cy="411101"/>
          </a:xfrm>
          <a:prstGeom prst="rect">
            <a:avLst/>
          </a:prstGeom>
        </p:spPr>
        <p:txBody>
          <a:bodyPr anchor="ctr">
            <a:normAutofit fontScale="62500" lnSpcReduction="20000"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ru-RU" sz="2600" b="1" dirty="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Times New Roman" pitchFamily="18" charset="0"/>
              </a:rPr>
              <a:t>Исходные данные для тестирования программного </a:t>
            </a:r>
            <a:r>
              <a:rPr lang="ru-RU" sz="2600" b="1" dirty="0" err="1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Times New Roman" pitchFamily="18" charset="0"/>
              </a:rPr>
              <a:t>комлекса</a:t>
            </a:r>
            <a:endParaRPr lang="ru-RU" sz="2600" b="1" dirty="0">
              <a:solidFill>
                <a:srgbClr val="00B05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Times New Roman" pitchFamily="18" charset="0"/>
            </a:endParaRPr>
          </a:p>
        </p:txBody>
      </p:sp>
      <p:pic>
        <p:nvPicPr>
          <p:cNvPr id="4" name="Рисунок 7" descr="znak">
            <a:extLst>
              <a:ext uri="{FF2B5EF4-FFF2-40B4-BE49-F238E27FC236}">
                <a16:creationId xmlns:a16="http://schemas.microsoft.com/office/drawing/2014/main" id="{B78FA298-8DC3-4FAA-8066-98E7773717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23875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77889FE4-06D3-424A-9B9B-A86C535137FF}"/>
              </a:ext>
            </a:extLst>
          </p:cNvPr>
          <p:cNvSpPr txBox="1">
            <a:spLocks noRot="1" noChangeArrowheads="1"/>
          </p:cNvSpPr>
          <p:nvPr/>
        </p:nvSpPr>
        <p:spPr>
          <a:xfrm>
            <a:off x="539750" y="6408738"/>
            <a:ext cx="7920038" cy="404812"/>
          </a:xfrm>
          <a:prstGeom prst="rect">
            <a:avLst/>
          </a:prstGeom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ru-RU" altLang="ru-RU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Программный комплекс для учета продукции предприятия по производству эпоксидных смол</a:t>
            </a:r>
            <a:endParaRPr lang="ru-RU" altLang="ru-RU" sz="1200" b="1" dirty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0" descr="znak">
            <a:extLst>
              <a:ext uri="{FF2B5EF4-FFF2-40B4-BE49-F238E27FC236}">
                <a16:creationId xmlns:a16="http://schemas.microsoft.com/office/drawing/2014/main" id="{5320BB54-1B3F-4414-B13A-56CC482EBB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" y="3175"/>
            <a:ext cx="820738" cy="103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08" descr="Логотип_САПРиУ">
            <a:extLst>
              <a:ext uri="{FF2B5EF4-FFF2-40B4-BE49-F238E27FC236}">
                <a16:creationId xmlns:a16="http://schemas.microsoft.com/office/drawing/2014/main" id="{B0424F03-00AD-4D6A-A4F0-CF0DB884C4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0" t="10747" r="34196" b="37616"/>
          <a:stretch>
            <a:fillRect/>
          </a:stretch>
        </p:blipFill>
        <p:spPr bwMode="auto">
          <a:xfrm>
            <a:off x="8448675" y="-6437"/>
            <a:ext cx="701675" cy="68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Рисунок 2" descr="int_2">
            <a:extLst>
              <a:ext uri="{FF2B5EF4-FFF2-40B4-BE49-F238E27FC236}">
                <a16:creationId xmlns:a16="http://schemas.microsoft.com/office/drawing/2014/main" id="{1F7CCB1E-CE5B-494A-90BB-3BB2843642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592" y="6222257"/>
            <a:ext cx="909779" cy="6254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D71A831-C7D9-4551-B688-202474267905}"/>
              </a:ext>
            </a:extLst>
          </p:cNvPr>
          <p:cNvSpPr txBox="1"/>
          <p:nvPr/>
        </p:nvSpPr>
        <p:spPr>
          <a:xfrm>
            <a:off x="8092672" y="6350327"/>
            <a:ext cx="10231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b="1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rPr>
              <a:t>14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rPr>
              <a:t>/17</a:t>
            </a:r>
            <a:endParaRPr lang="en-US" sz="1800" b="1" i="0" u="none" strike="noStrike" cap="none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Arial"/>
              <a:sym typeface="Arial"/>
            </a:endParaRPr>
          </a:p>
        </p:txBody>
      </p:sp>
      <p:graphicFrame>
        <p:nvGraphicFramePr>
          <p:cNvPr id="19" name="Таблица 18">
            <a:extLst>
              <a:ext uri="{FF2B5EF4-FFF2-40B4-BE49-F238E27FC236}">
                <a16:creationId xmlns:a16="http://schemas.microsoft.com/office/drawing/2014/main" id="{9F0CA1A8-EB4F-4178-B7ED-3EF85EC17A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8308"/>
              </p:ext>
            </p:extLst>
          </p:nvPr>
        </p:nvGraphicFramePr>
        <p:xfrm>
          <a:off x="408822" y="1233656"/>
          <a:ext cx="8569325" cy="2409819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4020622">
                  <a:extLst>
                    <a:ext uri="{9D8B030D-6E8A-4147-A177-3AD203B41FA5}">
                      <a16:colId xmlns:a16="http://schemas.microsoft.com/office/drawing/2014/main" val="350788188"/>
                    </a:ext>
                  </a:extLst>
                </a:gridCol>
                <a:gridCol w="4548703">
                  <a:extLst>
                    <a:ext uri="{9D8B030D-6E8A-4147-A177-3AD203B41FA5}">
                      <a16:colId xmlns:a16="http://schemas.microsoft.com/office/drawing/2014/main" val="2234144048"/>
                    </a:ext>
                  </a:extLst>
                </a:gridCol>
              </a:tblGrid>
              <a:tr h="28767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algn="ctr"/>
                      <a:r>
                        <a:rPr lang="ru-RU" sz="1500" b="1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Входные данные</a:t>
                      </a:r>
                    </a:p>
                  </a:txBody>
                  <a:tcPr marL="63493" marR="63493" marT="9519" marB="0" anchor="ctr" horzOverflow="overflow"/>
                </a:tc>
                <a:tc>
                  <a:txBody>
                    <a:bodyPr/>
                    <a:lstStyle>
                      <a:lvl1pPr indent="1746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17463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5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Значение</a:t>
                      </a:r>
                      <a:endParaRPr kumimoji="0" lang="ru-RU" altLang="ru-RU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493" marR="63493" marT="9519" marB="0" anchor="ctr" horzOverflow="overflow"/>
                </a:tc>
                <a:extLst>
                  <a:ext uri="{0D108BD9-81ED-4DB2-BD59-A6C34878D82A}">
                    <a16:rowId xmlns:a16="http://schemas.microsoft.com/office/drawing/2014/main" val="3505884895"/>
                  </a:ext>
                </a:extLst>
              </a:tr>
              <a:tr h="279279">
                <a:tc>
                  <a:txBody>
                    <a:bodyPr/>
                    <a:lstStyle/>
                    <a:p>
                      <a:pPr marL="0" marR="0" lvl="0" indent="450215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5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</a:t>
                      </a:r>
                      <a:r>
                        <a:rPr lang="en-US" sz="15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</a:t>
                      </a:r>
                      <a:r>
                        <a:rPr kumimoji="0" lang="en-US" altLang="ru-RU" sz="1500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– </a:t>
                      </a:r>
                      <a:r>
                        <a:rPr lang="ru-RU" sz="15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Дата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</a:pPr>
                      <a:r>
                        <a:rPr lang="ru-RU" sz="15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22</a:t>
                      </a:r>
                      <a:r>
                        <a:rPr lang="en-US" sz="15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.05.2024</a:t>
                      </a:r>
                      <a:endParaRPr lang="ru-RU" sz="1500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18067418"/>
                  </a:ext>
                </a:extLst>
              </a:tr>
              <a:tr h="279279">
                <a:tc>
                  <a:txBody>
                    <a:bodyPr/>
                    <a:lstStyle/>
                    <a:p>
                      <a:pPr marL="0" marR="0" lvl="0" indent="450215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 </a:t>
                      </a:r>
                      <a:r>
                        <a:rPr kumimoji="0" lang="en-US" altLang="ru-RU" sz="1500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– </a:t>
                      </a:r>
                      <a:r>
                        <a:rPr lang="ru-RU" sz="15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Партия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</a:pPr>
                      <a:r>
                        <a:rPr lang="ru-RU" sz="15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51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4792224"/>
                  </a:ext>
                </a:extLst>
              </a:tr>
              <a:tr h="279279"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 </a:t>
                      </a:r>
                      <a:r>
                        <a:rPr kumimoji="0" lang="en-US" altLang="ru-RU" sz="1500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– </a:t>
                      </a:r>
                      <a:r>
                        <a:rPr lang="ru-RU" sz="15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Марка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</a:pPr>
                      <a:r>
                        <a:rPr lang="ru-RU" sz="15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ЭД-20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54481850"/>
                  </a:ext>
                </a:extLst>
              </a:tr>
              <a:tr h="279279"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Q </a:t>
                      </a:r>
                      <a:r>
                        <a:rPr kumimoji="0" lang="en-US" altLang="ru-RU" sz="1500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– </a:t>
                      </a:r>
                      <a:r>
                        <a:rPr lang="ru-RU" sz="15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Качество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</a:pPr>
                      <a:r>
                        <a:rPr lang="ru-RU" sz="15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в/с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68134746"/>
                  </a:ext>
                </a:extLst>
              </a:tr>
              <a:tr h="279279"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 </a:t>
                      </a:r>
                      <a:r>
                        <a:rPr kumimoji="0" lang="en-US" altLang="ru-RU" sz="1500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– </a:t>
                      </a:r>
                      <a:r>
                        <a:rPr lang="ru-RU" sz="15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Тара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</a:pPr>
                      <a:r>
                        <a:rPr lang="ru-RU" sz="15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барабан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73911762"/>
                  </a:ext>
                </a:extLst>
              </a:tr>
              <a:tr h="279279"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</a:pPr>
                      <a:r>
                        <a:rPr lang="en-US" sz="1500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Qn</a:t>
                      </a:r>
                      <a:r>
                        <a:rPr lang="en-US" sz="15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</a:t>
                      </a:r>
                      <a:r>
                        <a:rPr kumimoji="0" lang="en-US" altLang="ru-RU" sz="1500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– </a:t>
                      </a:r>
                      <a:r>
                        <a:rPr lang="ru-RU" sz="15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Количество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</a:pPr>
                      <a:r>
                        <a:rPr lang="ru-RU" sz="15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34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56082840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1263EB58-8126-48A0-B230-052F17FA7606}"/>
              </a:ext>
            </a:extLst>
          </p:cNvPr>
          <p:cNvSpPr txBox="1"/>
          <p:nvPr/>
        </p:nvSpPr>
        <p:spPr>
          <a:xfrm>
            <a:off x="1019847" y="5835158"/>
            <a:ext cx="73472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</a:rPr>
              <a:t>Добавление новой проду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кции и формирование документа</a:t>
            </a:r>
            <a:endParaRPr lang="ru-RU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2CE31CA6-B00B-4C4C-B70A-793973A9E3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822" y="3445271"/>
            <a:ext cx="8569325" cy="2389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7855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2">
            <a:extLst>
              <a:ext uri="{FF2B5EF4-FFF2-40B4-BE49-F238E27FC236}">
                <a16:creationId xmlns:a16="http://schemas.microsoft.com/office/drawing/2014/main" id="{F259C684-65C0-46C2-BC84-C7CFE3742987}"/>
              </a:ext>
            </a:extLst>
          </p:cNvPr>
          <p:cNvSpPr txBox="1">
            <a:spLocks noRot="1" noChangeArrowheads="1"/>
          </p:cNvSpPr>
          <p:nvPr/>
        </p:nvSpPr>
        <p:spPr>
          <a:xfrm>
            <a:off x="539750" y="6408738"/>
            <a:ext cx="7920038" cy="404812"/>
          </a:xfrm>
          <a:prstGeom prst="rect">
            <a:avLst/>
          </a:prstGeom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ru-RU" altLang="ru-RU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Программный комплекс для учета продукции предприятия по производству эпоксидных смол</a:t>
            </a:r>
            <a:endParaRPr lang="ru-RU" altLang="ru-RU" sz="1200" b="1" dirty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12C6544-F38A-4709-AC81-6745111096AE}"/>
              </a:ext>
            </a:extLst>
          </p:cNvPr>
          <p:cNvSpPr txBox="1">
            <a:spLocks noRot="1" noChangeArrowheads="1"/>
          </p:cNvSpPr>
          <p:nvPr/>
        </p:nvSpPr>
        <p:spPr>
          <a:xfrm>
            <a:off x="827088" y="0"/>
            <a:ext cx="7777360" cy="869019"/>
          </a:xfrm>
          <a:prstGeom prst="rect">
            <a:avLst/>
          </a:prstGeom>
        </p:spPr>
        <p:txBody>
          <a:bodyPr anchor="ctr">
            <a:normAutofit lnSpcReduction="10000"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ru-RU" altLang="ru-RU" sz="2600" b="1" dirty="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Тестирование программного комплекса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B5DD5871-C839-4B15-A0B7-638C352229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DAB6C77-D6E6-4032-9D05-7CAB3E4470D8}"/>
              </a:ext>
            </a:extLst>
          </p:cNvPr>
          <p:cNvSpPr txBox="1"/>
          <p:nvPr/>
        </p:nvSpPr>
        <p:spPr>
          <a:xfrm>
            <a:off x="1044998" y="5066658"/>
            <a:ext cx="26050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Результат операции</a:t>
            </a:r>
            <a:endParaRPr lang="ru-RU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134C085-7A33-4C37-A838-9C50095D115F}"/>
              </a:ext>
            </a:extLst>
          </p:cNvPr>
          <p:cNvSpPr txBox="1"/>
          <p:nvPr/>
        </p:nvSpPr>
        <p:spPr>
          <a:xfrm>
            <a:off x="5306612" y="5072988"/>
            <a:ext cx="36578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latin typeface="Verdana" panose="020B0604030504040204" pitchFamily="34" charset="0"/>
                <a:ea typeface="Verdana" panose="020B0604030504040204" pitchFamily="34" charset="0"/>
              </a:rPr>
              <a:t>Сформированный документ</a:t>
            </a:r>
          </a:p>
        </p:txBody>
      </p:sp>
      <p:pic>
        <p:nvPicPr>
          <p:cNvPr id="33" name="Picture 60" descr="znak">
            <a:extLst>
              <a:ext uri="{FF2B5EF4-FFF2-40B4-BE49-F238E27FC236}">
                <a16:creationId xmlns:a16="http://schemas.microsoft.com/office/drawing/2014/main" id="{4C1698EF-B698-48E6-8517-76002B9942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" y="3175"/>
            <a:ext cx="820738" cy="103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" name="Picture 108" descr="Логотип_САПРиУ">
            <a:extLst>
              <a:ext uri="{FF2B5EF4-FFF2-40B4-BE49-F238E27FC236}">
                <a16:creationId xmlns:a16="http://schemas.microsoft.com/office/drawing/2014/main" id="{F3E3F3D1-003A-4B92-87E7-3CE87450A4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0" t="10747" r="34196" b="37616"/>
          <a:stretch>
            <a:fillRect/>
          </a:stretch>
        </p:blipFill>
        <p:spPr bwMode="auto">
          <a:xfrm>
            <a:off x="8448675" y="-6437"/>
            <a:ext cx="701675" cy="68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" name="Рисунок 2" descr="int_2">
            <a:extLst>
              <a:ext uri="{FF2B5EF4-FFF2-40B4-BE49-F238E27FC236}">
                <a16:creationId xmlns:a16="http://schemas.microsoft.com/office/drawing/2014/main" id="{93182B03-0881-49AB-82A2-D0AC109D77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592" y="6222257"/>
            <a:ext cx="909779" cy="6254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B945FB7A-DD30-438C-8873-115A85009E26}"/>
              </a:ext>
            </a:extLst>
          </p:cNvPr>
          <p:cNvSpPr txBox="1"/>
          <p:nvPr/>
        </p:nvSpPr>
        <p:spPr>
          <a:xfrm>
            <a:off x="8100393" y="6321464"/>
            <a:ext cx="10231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b="1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rPr>
              <a:t>15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rPr>
              <a:t>/17</a:t>
            </a:r>
            <a:endParaRPr lang="en-US" sz="1800" b="1" i="0" u="none" strike="noStrike" cap="none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Arial"/>
              <a:sym typeface="Arial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889DCE30-391A-4888-A336-3D506CB1D2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1021016"/>
              </p:ext>
            </p:extLst>
          </p:nvPr>
        </p:nvGraphicFramePr>
        <p:xfrm>
          <a:off x="197634" y="1342901"/>
          <a:ext cx="8569325" cy="695319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4020622">
                  <a:extLst>
                    <a:ext uri="{9D8B030D-6E8A-4147-A177-3AD203B41FA5}">
                      <a16:colId xmlns:a16="http://schemas.microsoft.com/office/drawing/2014/main" val="1319365828"/>
                    </a:ext>
                  </a:extLst>
                </a:gridCol>
                <a:gridCol w="4548703">
                  <a:extLst>
                    <a:ext uri="{9D8B030D-6E8A-4147-A177-3AD203B41FA5}">
                      <a16:colId xmlns:a16="http://schemas.microsoft.com/office/drawing/2014/main" val="1827497607"/>
                    </a:ext>
                  </a:extLst>
                </a:gridCol>
              </a:tblGrid>
              <a:tr h="28767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algn="ctr"/>
                      <a:r>
                        <a:rPr lang="ru-RU" sz="1500" b="1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Выходные данные</a:t>
                      </a:r>
                    </a:p>
                  </a:txBody>
                  <a:tcPr marL="63493" marR="63493" marT="9519" marB="0" anchor="ctr" horzOverflow="overflow"/>
                </a:tc>
                <a:tc>
                  <a:txBody>
                    <a:bodyPr/>
                    <a:lstStyle>
                      <a:lvl1pPr indent="1746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17463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5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Значение</a:t>
                      </a:r>
                      <a:endParaRPr kumimoji="0" lang="ru-RU" altLang="ru-RU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493" marR="63493" marT="9519" marB="0" anchor="ctr" horzOverflow="overflow"/>
                </a:tc>
                <a:extLst>
                  <a:ext uri="{0D108BD9-81ED-4DB2-BD59-A6C34878D82A}">
                    <a16:rowId xmlns:a16="http://schemas.microsoft.com/office/drawing/2014/main" val="3824782244"/>
                  </a:ext>
                </a:extLst>
              </a:tr>
              <a:tr h="279279">
                <a:tc>
                  <a:txBody>
                    <a:bodyPr/>
                    <a:lstStyle/>
                    <a:p>
                      <a:pPr marL="0" marR="0" lvl="0" indent="450215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Doc </a:t>
                      </a:r>
                      <a:r>
                        <a:rPr kumimoji="0" lang="en-US" altLang="ru-RU" sz="1500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– </a:t>
                      </a:r>
                      <a:r>
                        <a:rPr lang="ru-RU" sz="15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Документ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l">
                        <a:lnSpc>
                          <a:spcPct val="150000"/>
                        </a:lnSpc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Doc {D, P, M, Q, C, </a:t>
                      </a:r>
                      <a:r>
                        <a:rPr lang="en-US" sz="1500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Qn</a:t>
                      </a:r>
                      <a:r>
                        <a:rPr lang="ru-RU" sz="15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, </a:t>
                      </a:r>
                      <a:r>
                        <a:rPr lang="en-US" sz="150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T}</a:t>
                      </a:r>
                      <a:endParaRPr lang="ru-RU" sz="1500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3156315"/>
                  </a:ext>
                </a:extLst>
              </a:tr>
            </a:tbl>
          </a:graphicData>
        </a:graphic>
      </p:graphicFrame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30B6360-D46C-4C9C-8282-433F590777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03" y="3678913"/>
            <a:ext cx="3067478" cy="149563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134A7FB-CCE5-40AC-82CF-CCA23D18CAB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375" y="4274330"/>
            <a:ext cx="857250" cy="30480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995DB78-EC80-4483-AB00-348A0841DEF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37807" y="2142313"/>
            <a:ext cx="2991267" cy="2968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1650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2">
            <a:extLst>
              <a:ext uri="{FF2B5EF4-FFF2-40B4-BE49-F238E27FC236}">
                <a16:creationId xmlns:a16="http://schemas.microsoft.com/office/drawing/2014/main" id="{F259C684-65C0-46C2-BC84-C7CFE3742987}"/>
              </a:ext>
            </a:extLst>
          </p:cNvPr>
          <p:cNvSpPr txBox="1">
            <a:spLocks noRot="1" noChangeArrowheads="1"/>
          </p:cNvSpPr>
          <p:nvPr/>
        </p:nvSpPr>
        <p:spPr>
          <a:xfrm>
            <a:off x="539750" y="6408738"/>
            <a:ext cx="7920038" cy="404812"/>
          </a:xfrm>
          <a:prstGeom prst="rect">
            <a:avLst/>
          </a:prstGeom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ru-RU" altLang="ru-RU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Программный комплекс для учета продукции предприятия по производству эпоксидных смол</a:t>
            </a:r>
            <a:endParaRPr lang="ru-RU" altLang="ru-RU" sz="1200" b="1" dirty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12C6544-F38A-4709-AC81-6745111096AE}"/>
              </a:ext>
            </a:extLst>
          </p:cNvPr>
          <p:cNvSpPr txBox="1">
            <a:spLocks noRot="1" noChangeArrowheads="1"/>
          </p:cNvSpPr>
          <p:nvPr/>
        </p:nvSpPr>
        <p:spPr>
          <a:xfrm>
            <a:off x="0" y="0"/>
            <a:ext cx="9144000" cy="457200"/>
          </a:xfrm>
          <a:prstGeom prst="rect">
            <a:avLst/>
          </a:prstGeom>
        </p:spPr>
        <p:txBody>
          <a:bodyPr anchor="ctr">
            <a:normAutofit lnSpcReduction="10000"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ru-RU" altLang="ru-RU" sz="2600" b="1" dirty="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Выводы по работе</a:t>
            </a:r>
          </a:p>
        </p:txBody>
      </p:sp>
      <p:sp>
        <p:nvSpPr>
          <p:cNvPr id="6149" name="Rectangle 2">
            <a:extLst>
              <a:ext uri="{FF2B5EF4-FFF2-40B4-BE49-F238E27FC236}">
                <a16:creationId xmlns:a16="http://schemas.microsoft.com/office/drawing/2014/main" id="{1F73172F-1B85-4BAF-9E6D-3662377D7F57}"/>
              </a:ext>
            </a:extLst>
          </p:cNvPr>
          <p:cNvSpPr txBox="1">
            <a:spLocks noRot="1" noChangeArrowheads="1"/>
          </p:cNvSpPr>
          <p:nvPr/>
        </p:nvSpPr>
        <p:spPr bwMode="auto">
          <a:xfrm>
            <a:off x="827584" y="2345883"/>
            <a:ext cx="7930355" cy="1831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None/>
            </a:pPr>
            <a:endParaRPr lang="ru-RU" sz="1600" dirty="0"/>
          </a:p>
        </p:txBody>
      </p:sp>
      <p:pic>
        <p:nvPicPr>
          <p:cNvPr id="6150" name="Picture 60" descr="znak">
            <a:extLst>
              <a:ext uri="{FF2B5EF4-FFF2-40B4-BE49-F238E27FC236}">
                <a16:creationId xmlns:a16="http://schemas.microsoft.com/office/drawing/2014/main" id="{24DEF2A3-818D-4D29-8F41-A529E285A2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8633"/>
            <a:ext cx="601663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5">
            <a:extLst>
              <a:ext uri="{FF2B5EF4-FFF2-40B4-BE49-F238E27FC236}">
                <a16:creationId xmlns:a16="http://schemas.microsoft.com/office/drawing/2014/main" id="{B5DD5871-C839-4B15-A0B7-638C352229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A87961-D05C-4ECD-AF81-0A92C16B5CB0}"/>
              </a:ext>
            </a:extLst>
          </p:cNvPr>
          <p:cNvSpPr txBox="1"/>
          <p:nvPr/>
        </p:nvSpPr>
        <p:spPr>
          <a:xfrm>
            <a:off x="36114" y="978329"/>
            <a:ext cx="9101535" cy="40174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14000"/>
              </a:lnSpc>
              <a:spcAft>
                <a:spcPts val="800"/>
              </a:spcAft>
            </a:pP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В ходе выполнения выпускной квали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фикационной работы</a:t>
            </a: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был разработан </a:t>
            </a: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Программный комплекс для учета продукции предприятия по производству эпоксидных смол</a:t>
            </a: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14000"/>
              </a:lnSpc>
              <a:spcAft>
                <a:spcPts val="800"/>
              </a:spcAft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Решены следующие задачи:</a:t>
            </a:r>
            <a:endParaRPr lang="ru-RU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indent="450215">
              <a:lnSpc>
                <a:spcPct val="114000"/>
              </a:lnSpc>
            </a:pP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1) разработана функциональная структура программного комплекса;</a:t>
            </a:r>
          </a:p>
          <a:p>
            <a:pPr indent="450215">
              <a:lnSpc>
                <a:spcPct val="114000"/>
              </a:lnSpc>
            </a:pP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2) Сформировано информационное обеспечение программного комплекса;</a:t>
            </a:r>
          </a:p>
          <a:p>
            <a:pPr indent="450215">
              <a:lnSpc>
                <a:spcPct val="114000"/>
              </a:lnSpc>
            </a:pP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3) разработан алгоритм функционирования программного комплекса;</a:t>
            </a:r>
          </a:p>
          <a:p>
            <a:pPr indent="450215">
              <a:lnSpc>
                <a:spcPct val="114000"/>
              </a:lnSpc>
            </a:pP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4) разработаны интерфейсы пользователей программного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комплекса (администратора базы данных и сотрудника склада);</a:t>
            </a:r>
            <a:endParaRPr lang="en-US" dirty="0"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indent="450215">
              <a:lnSpc>
                <a:spcPct val="114000"/>
              </a:lnSpc>
            </a:pPr>
            <a:r>
              <a:rPr lang="ru-RU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5) программный комплекс реализован и протестирован.</a:t>
            </a:r>
            <a:endParaRPr lang="ru-RU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indent="450215" algn="just"/>
            <a:endParaRPr lang="ru-RU" sz="1600" dirty="0"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1" name="Picture 60" descr="znak">
            <a:extLst>
              <a:ext uri="{FF2B5EF4-FFF2-40B4-BE49-F238E27FC236}">
                <a16:creationId xmlns:a16="http://schemas.microsoft.com/office/drawing/2014/main" id="{DE04E38C-8751-4014-8B00-84F860A84E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" y="3175"/>
            <a:ext cx="820738" cy="103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08" descr="Логотип_САПРиУ">
            <a:extLst>
              <a:ext uri="{FF2B5EF4-FFF2-40B4-BE49-F238E27FC236}">
                <a16:creationId xmlns:a16="http://schemas.microsoft.com/office/drawing/2014/main" id="{0E3D053B-F02A-4401-96F8-EA8E817B77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0" t="10747" r="34196" b="37616"/>
          <a:stretch>
            <a:fillRect/>
          </a:stretch>
        </p:blipFill>
        <p:spPr bwMode="auto">
          <a:xfrm>
            <a:off x="8448675" y="-6437"/>
            <a:ext cx="701675" cy="68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Рисунок 2" descr="int_2">
            <a:extLst>
              <a:ext uri="{FF2B5EF4-FFF2-40B4-BE49-F238E27FC236}">
                <a16:creationId xmlns:a16="http://schemas.microsoft.com/office/drawing/2014/main" id="{BA25212B-2013-4671-89AC-717FFD12BE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592" y="6222257"/>
            <a:ext cx="909779" cy="6254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6D3C9D3-80F8-449F-81E0-CAC0169076D7}"/>
              </a:ext>
            </a:extLst>
          </p:cNvPr>
          <p:cNvSpPr txBox="1"/>
          <p:nvPr/>
        </p:nvSpPr>
        <p:spPr>
          <a:xfrm>
            <a:off x="8100393" y="6321464"/>
            <a:ext cx="10231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b="1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rPr>
              <a:t>16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rPr>
              <a:t>/17</a:t>
            </a:r>
            <a:endParaRPr lang="en-US" sz="1800" b="1" i="0" u="none" strike="noStrike" cap="none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691264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2">
            <a:extLst>
              <a:ext uri="{FF2B5EF4-FFF2-40B4-BE49-F238E27FC236}">
                <a16:creationId xmlns:a16="http://schemas.microsoft.com/office/drawing/2014/main" id="{F259C684-65C0-46C2-BC84-C7CFE3742987}"/>
              </a:ext>
            </a:extLst>
          </p:cNvPr>
          <p:cNvSpPr txBox="1">
            <a:spLocks noRot="1" noChangeArrowheads="1"/>
          </p:cNvSpPr>
          <p:nvPr/>
        </p:nvSpPr>
        <p:spPr>
          <a:xfrm>
            <a:off x="539750" y="6408738"/>
            <a:ext cx="7920038" cy="404812"/>
          </a:xfrm>
          <a:prstGeom prst="rect">
            <a:avLst/>
          </a:prstGeom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ru-RU" altLang="ru-RU" sz="1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Программный комплекс для учета продукции предприятия по производству эпоксидных смол</a:t>
            </a:r>
            <a:endParaRPr lang="ru-RU" altLang="ru-RU" sz="1200" b="1" dirty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12C6544-F38A-4709-AC81-6745111096AE}"/>
              </a:ext>
            </a:extLst>
          </p:cNvPr>
          <p:cNvSpPr txBox="1">
            <a:spLocks noRot="1" noChangeArrowheads="1"/>
          </p:cNvSpPr>
          <p:nvPr/>
        </p:nvSpPr>
        <p:spPr>
          <a:xfrm>
            <a:off x="-216024" y="1509703"/>
            <a:ext cx="9144000" cy="1340768"/>
          </a:xfrm>
          <a:prstGeom prst="rect">
            <a:avLst/>
          </a:prstGeom>
        </p:spPr>
        <p:txBody>
          <a:bodyPr anchor="ctr">
            <a:norm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ru-RU" altLang="ru-RU" sz="4000" b="1" dirty="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Спасибо за внимание!</a:t>
            </a:r>
          </a:p>
        </p:txBody>
      </p:sp>
      <p:sp>
        <p:nvSpPr>
          <p:cNvPr id="6149" name="Rectangle 2">
            <a:extLst>
              <a:ext uri="{FF2B5EF4-FFF2-40B4-BE49-F238E27FC236}">
                <a16:creationId xmlns:a16="http://schemas.microsoft.com/office/drawing/2014/main" id="{1F73172F-1B85-4BAF-9E6D-3662377D7F57}"/>
              </a:ext>
            </a:extLst>
          </p:cNvPr>
          <p:cNvSpPr txBox="1">
            <a:spLocks noRot="1" noChangeArrowheads="1"/>
          </p:cNvSpPr>
          <p:nvPr/>
        </p:nvSpPr>
        <p:spPr bwMode="auto">
          <a:xfrm>
            <a:off x="827584" y="2345883"/>
            <a:ext cx="7930355" cy="1831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None/>
            </a:pPr>
            <a:endParaRPr lang="ru-RU" sz="1600" dirty="0"/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B5DD5871-C839-4B15-A0B7-638C352229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11" name="Picture 60" descr="znak">
            <a:extLst>
              <a:ext uri="{FF2B5EF4-FFF2-40B4-BE49-F238E27FC236}">
                <a16:creationId xmlns:a16="http://schemas.microsoft.com/office/drawing/2014/main" id="{279913CF-7A9B-4331-803A-7565B95A9D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" y="3175"/>
            <a:ext cx="820738" cy="103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08" descr="Логотип_САПРиУ">
            <a:extLst>
              <a:ext uri="{FF2B5EF4-FFF2-40B4-BE49-F238E27FC236}">
                <a16:creationId xmlns:a16="http://schemas.microsoft.com/office/drawing/2014/main" id="{B464F72F-61C5-4106-9788-C42AD4AD91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0" t="10747" r="34196" b="37616"/>
          <a:stretch>
            <a:fillRect/>
          </a:stretch>
        </p:blipFill>
        <p:spPr bwMode="auto">
          <a:xfrm>
            <a:off x="8448675" y="-6437"/>
            <a:ext cx="701675" cy="68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Рисунок 2" descr="int_2">
            <a:extLst>
              <a:ext uri="{FF2B5EF4-FFF2-40B4-BE49-F238E27FC236}">
                <a16:creationId xmlns:a16="http://schemas.microsoft.com/office/drawing/2014/main" id="{0E000A79-66F5-400F-BDAF-B71E87BEB1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592" y="6222257"/>
            <a:ext cx="909779" cy="6254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BCE3ADA-3824-47FD-A353-09BCBB045899}"/>
              </a:ext>
            </a:extLst>
          </p:cNvPr>
          <p:cNvSpPr txBox="1"/>
          <p:nvPr/>
        </p:nvSpPr>
        <p:spPr>
          <a:xfrm>
            <a:off x="8100393" y="6321464"/>
            <a:ext cx="10231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b="1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rPr>
              <a:t>17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/>
                <a:sym typeface="Arial"/>
              </a:rPr>
              <a:t>/17</a:t>
            </a:r>
            <a:endParaRPr lang="en-US" sz="1800" b="1" i="0" u="none" strike="noStrike" cap="none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6871961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3333</TotalTime>
  <Words>973</Words>
  <Application>Microsoft Office PowerPoint</Application>
  <PresentationFormat>Экран (4:3)</PresentationFormat>
  <Paragraphs>231</Paragraphs>
  <Slides>17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17</vt:i4>
      </vt:variant>
    </vt:vector>
  </HeadingPairs>
  <TitlesOfParts>
    <vt:vector size="24" baseType="lpstr">
      <vt:lpstr>Arial</vt:lpstr>
      <vt:lpstr>Calibri</vt:lpstr>
      <vt:lpstr>Times New Roman</vt:lpstr>
      <vt:lpstr>Verdana</vt:lpstr>
      <vt:lpstr>Wingdings</vt:lpstr>
      <vt:lpstr>Тема Office</vt:lpstr>
      <vt:lpstr>1_Тема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UML-диаграммы прецедентов использования программного комплекса</vt:lpstr>
      <vt:lpstr>Концептуальная модель базы данных программного комплекса</vt:lpstr>
      <vt:lpstr>Даталогическая модель базы данных программного комплекса</vt:lpstr>
      <vt:lpstr>Выбор сделан в пользу MS SQL Server, т.к. он обладает удобной интеграцией с MS Visual studio, в которой разработано клиентское приложение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Дмитрий Сорокин</dc:creator>
  <cp:lastModifiedBy>Козлов Андрей Васильевич</cp:lastModifiedBy>
  <cp:revision>474</cp:revision>
  <dcterms:modified xsi:type="dcterms:W3CDTF">2024-07-05T14:36:59Z</dcterms:modified>
</cp:coreProperties>
</file>